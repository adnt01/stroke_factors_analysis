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3"/>
  </p:notesMasterIdLst>
  <p:sldIdLst>
    <p:sldId id="279" r:id="rId2"/>
    <p:sldId id="266" r:id="rId3"/>
    <p:sldId id="283" r:id="rId4"/>
    <p:sldId id="291" r:id="rId5"/>
    <p:sldId id="280" r:id="rId6"/>
    <p:sldId id="282" r:id="rId7"/>
    <p:sldId id="285" r:id="rId8"/>
    <p:sldId id="286" r:id="rId9"/>
    <p:sldId id="287" r:id="rId10"/>
    <p:sldId id="265" r:id="rId11"/>
    <p:sldId id="267" r:id="rId12"/>
    <p:sldId id="270" r:id="rId13"/>
    <p:sldId id="288" r:id="rId14"/>
    <p:sldId id="268" r:id="rId15"/>
    <p:sldId id="269" r:id="rId16"/>
    <p:sldId id="256" r:id="rId17"/>
    <p:sldId id="257" r:id="rId18"/>
    <p:sldId id="276" r:id="rId19"/>
    <p:sldId id="278" r:id="rId20"/>
    <p:sldId id="289" r:id="rId21"/>
    <p:sldId id="29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8" autoAdjust="0"/>
    <p:restoredTop sz="94660"/>
  </p:normalViewPr>
  <p:slideViewPr>
    <p:cSldViewPr snapToGrid="0">
      <p:cViewPr varScale="1">
        <p:scale>
          <a:sx n="90" d="100"/>
          <a:sy n="90" d="100"/>
        </p:scale>
        <p:origin x="90" y="-1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8D9752-18F5-491D-A8FE-927E5AB031AE}" type="datetimeFigureOut">
              <a:rPr lang="en-CA" smtClean="0"/>
              <a:t>2026-03-06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82D4E7-790C-4BF0-9AE4-9CFCBBC847E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66718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92943E5C-15F6-54E9-B745-B30B17AAB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:notes">
            <a:extLst>
              <a:ext uri="{FF2B5EF4-FFF2-40B4-BE49-F238E27FC236}">
                <a16:creationId xmlns:a16="http://schemas.microsoft.com/office/drawing/2014/main" id="{43D16254-6F56-28A8-E72D-69E13CA5F9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1:notes">
            <a:extLst>
              <a:ext uri="{FF2B5EF4-FFF2-40B4-BE49-F238E27FC236}">
                <a16:creationId xmlns:a16="http://schemas.microsoft.com/office/drawing/2014/main" id="{6A221F69-FA65-4CC9-B4D5-4663971FD6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88900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92943E5C-15F6-54E9-B745-B30B17AAB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:notes">
            <a:extLst>
              <a:ext uri="{FF2B5EF4-FFF2-40B4-BE49-F238E27FC236}">
                <a16:creationId xmlns:a16="http://schemas.microsoft.com/office/drawing/2014/main" id="{43D16254-6F56-28A8-E72D-69E13CA5F9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1:notes">
            <a:extLst>
              <a:ext uri="{FF2B5EF4-FFF2-40B4-BE49-F238E27FC236}">
                <a16:creationId xmlns:a16="http://schemas.microsoft.com/office/drawing/2014/main" id="{6A221F69-FA65-4CC9-B4D5-4663971FD6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889004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>
          <a:extLst>
            <a:ext uri="{FF2B5EF4-FFF2-40B4-BE49-F238E27FC236}">
              <a16:creationId xmlns:a16="http://schemas.microsoft.com/office/drawing/2014/main" id="{031ADCA6-ED41-89E8-8C5D-A7C0A46EC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:notes">
            <a:extLst>
              <a:ext uri="{FF2B5EF4-FFF2-40B4-BE49-F238E27FC236}">
                <a16:creationId xmlns:a16="http://schemas.microsoft.com/office/drawing/2014/main" id="{76B5FB3A-981F-7241-F06A-19C82D27A2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0:notes">
            <a:extLst>
              <a:ext uri="{FF2B5EF4-FFF2-40B4-BE49-F238E27FC236}">
                <a16:creationId xmlns:a16="http://schemas.microsoft.com/office/drawing/2014/main" id="{15698202-36E2-7700-F89A-43A791D1B1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20426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>
          <a:extLst>
            <a:ext uri="{FF2B5EF4-FFF2-40B4-BE49-F238E27FC236}">
              <a16:creationId xmlns:a16="http://schemas.microsoft.com/office/drawing/2014/main" id="{0E976981-14AE-3DC3-9973-EF0F0CADC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:notes">
            <a:extLst>
              <a:ext uri="{FF2B5EF4-FFF2-40B4-BE49-F238E27FC236}">
                <a16:creationId xmlns:a16="http://schemas.microsoft.com/office/drawing/2014/main" id="{FA607C5C-DCD1-5349-A7DF-6FC75E5ED5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0:notes">
            <a:extLst>
              <a:ext uri="{FF2B5EF4-FFF2-40B4-BE49-F238E27FC236}">
                <a16:creationId xmlns:a16="http://schemas.microsoft.com/office/drawing/2014/main" id="{1C481F5B-62F5-FF71-90D8-F8B7AC3FE4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21943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91CAB47-D3CB-8D12-095A-517DD5602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:notes">
            <a:extLst>
              <a:ext uri="{FF2B5EF4-FFF2-40B4-BE49-F238E27FC236}">
                <a16:creationId xmlns:a16="http://schemas.microsoft.com/office/drawing/2014/main" id="{12DFE4D8-9CD7-C8F2-B8DA-9C7304EF86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1:notes">
            <a:extLst>
              <a:ext uri="{FF2B5EF4-FFF2-40B4-BE49-F238E27FC236}">
                <a16:creationId xmlns:a16="http://schemas.microsoft.com/office/drawing/2014/main" id="{2E3771D8-16F3-1D78-85D9-6F890316EC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18010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30E5B0FF-7F6A-5BBA-FD84-E67D98E0C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:notes">
            <a:extLst>
              <a:ext uri="{FF2B5EF4-FFF2-40B4-BE49-F238E27FC236}">
                <a16:creationId xmlns:a16="http://schemas.microsoft.com/office/drawing/2014/main" id="{58156EA9-AE74-DAA2-37EE-FD21A1D01A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1:notes">
            <a:extLst>
              <a:ext uri="{FF2B5EF4-FFF2-40B4-BE49-F238E27FC236}">
                <a16:creationId xmlns:a16="http://schemas.microsoft.com/office/drawing/2014/main" id="{4D6DA1AF-9CBF-94BE-DAF7-11CC472703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67921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0B5CE19B-28C4-4D25-EB9B-439810A64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:notes">
            <a:extLst>
              <a:ext uri="{FF2B5EF4-FFF2-40B4-BE49-F238E27FC236}">
                <a16:creationId xmlns:a16="http://schemas.microsoft.com/office/drawing/2014/main" id="{73B21E0F-8B08-FC1B-D07F-7E6E023217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1:notes">
            <a:extLst>
              <a:ext uri="{FF2B5EF4-FFF2-40B4-BE49-F238E27FC236}">
                <a16:creationId xmlns:a16="http://schemas.microsoft.com/office/drawing/2014/main" id="{243BF204-1B95-C87B-6715-B2949BED2E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47001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1"/>
            <a:ext cx="104648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18BF0-D309-41FF-AA8C-FC2AA180651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8E0AA-2317-45F3-818D-B9C3ED78249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914400" y="3398520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18BF0-D309-41FF-AA8C-FC2AA180651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8E0AA-2317-45F3-818D-B9C3ED78249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362201"/>
            <a:ext cx="103632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626865"/>
            <a:ext cx="103632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18BF0-D309-41FF-AA8C-FC2AA180651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8E0AA-2317-45F3-818D-B9C3ED78249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975360" y="4599432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18BF0-D309-41FF-AA8C-FC2AA180651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8E0AA-2317-45F3-818D-B9C3ED78249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3984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984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18BF0-D309-41FF-AA8C-FC2AA180651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8E0AA-2317-45F3-818D-B9C3ED782497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3741949" y="4045691"/>
            <a:ext cx="4709160" cy="1059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18BF0-D309-41FF-AA8C-FC2AA180651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8E0AA-2317-45F3-818D-B9C3ED78249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18BF0-D309-41FF-AA8C-FC2AA180651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8E0AA-2317-45F3-818D-B9C3ED78249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080"/>
            <a:ext cx="2852928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0" y="792080"/>
            <a:ext cx="7620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130553"/>
            <a:ext cx="2852928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18BF0-D309-41FF-AA8C-FC2AA180651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8E0AA-2317-45F3-818D-B9C3ED78249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912152" y="3579942"/>
            <a:ext cx="5577840" cy="211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480"/>
            <a:ext cx="2856907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11480" y="838201"/>
            <a:ext cx="787252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133600"/>
            <a:ext cx="2852928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18BF0-D309-41FF-AA8C-FC2AA180651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8E0AA-2317-45F3-818D-B9C3ED78249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18BF0-D309-41FF-AA8C-FC2AA180651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8E0AA-2317-45F3-818D-B9C3ED78249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609600"/>
            <a:ext cx="27432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0264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18BF0-D309-41FF-AA8C-FC2AA180651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8E0AA-2317-45F3-818D-B9C3ED78249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12192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18288"/>
            <a:ext cx="3860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F4D18BF0-D309-41FF-AA8C-FC2AA180651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0" y="18288"/>
            <a:ext cx="5486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00" y="18288"/>
            <a:ext cx="1422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4638E0AA-2317-45F3-818D-B9C3ED78249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" name="Google Shape;86;p13"/>
          <p:cNvCxnSpPr/>
          <p:nvPr/>
        </p:nvCxnSpPr>
        <p:spPr>
          <a:xfrm rot="10800000">
            <a:off x="375613" y="-30032"/>
            <a:ext cx="0" cy="6918064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" name="Google Shape;87;p13"/>
          <p:cNvCxnSpPr/>
          <p:nvPr/>
        </p:nvCxnSpPr>
        <p:spPr>
          <a:xfrm rot="10800000">
            <a:off x="11816387" y="369264"/>
            <a:ext cx="0" cy="6498481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8" name="Google Shape;88;p13"/>
          <p:cNvCxnSpPr/>
          <p:nvPr/>
        </p:nvCxnSpPr>
        <p:spPr>
          <a:xfrm rot="10800000">
            <a:off x="377794" y="375613"/>
            <a:ext cx="11431574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89" name="Google Shape;89;p13"/>
          <p:cNvGrpSpPr/>
          <p:nvPr/>
        </p:nvGrpSpPr>
        <p:grpSpPr>
          <a:xfrm>
            <a:off x="865353" y="5986222"/>
            <a:ext cx="6009219" cy="2177948"/>
            <a:chOff x="0" y="-47625"/>
            <a:chExt cx="2374012" cy="860425"/>
          </a:xfrm>
        </p:grpSpPr>
        <p:sp>
          <p:nvSpPr>
            <p:cNvPr id="90" name="Google Shape;90;p13"/>
            <p:cNvSpPr/>
            <p:nvPr/>
          </p:nvSpPr>
          <p:spPr>
            <a:xfrm>
              <a:off x="0" y="0"/>
              <a:ext cx="2374012" cy="145882"/>
            </a:xfrm>
            <a:custGeom>
              <a:avLst/>
              <a:gdLst/>
              <a:ahLst/>
              <a:cxnLst/>
              <a:rect l="l" t="t" r="r" b="b"/>
              <a:pathLst>
                <a:path w="2374012" h="145882" extrusionOk="0">
                  <a:moveTo>
                    <a:pt x="0" y="0"/>
                  </a:moveTo>
                  <a:lnTo>
                    <a:pt x="2374012" y="0"/>
                  </a:lnTo>
                  <a:lnTo>
                    <a:pt x="2374012" y="145882"/>
                  </a:lnTo>
                  <a:lnTo>
                    <a:pt x="0" y="1458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CA" sz="1200"/>
            </a:p>
          </p:txBody>
        </p:sp>
        <p:sp>
          <p:nvSpPr>
            <p:cNvPr id="91" name="Google Shape;91;p13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86611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2" name="Google Shape;92;p13"/>
          <p:cNvCxnSpPr/>
          <p:nvPr/>
        </p:nvCxnSpPr>
        <p:spPr>
          <a:xfrm rot="10800000">
            <a:off x="7351611" y="-72764"/>
            <a:ext cx="0" cy="6918064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3" name="Google Shape;93;p13"/>
          <p:cNvCxnSpPr/>
          <p:nvPr/>
        </p:nvCxnSpPr>
        <p:spPr>
          <a:xfrm rot="10800000">
            <a:off x="2694577" y="-56021"/>
            <a:ext cx="0" cy="43798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" name="Google Shape;94;p13"/>
          <p:cNvCxnSpPr/>
          <p:nvPr/>
        </p:nvCxnSpPr>
        <p:spPr>
          <a:xfrm rot="10800000">
            <a:off x="5019947" y="-56021"/>
            <a:ext cx="0" cy="43798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95" name="Google Shape;95;p13"/>
          <p:cNvGrpSpPr/>
          <p:nvPr/>
        </p:nvGrpSpPr>
        <p:grpSpPr>
          <a:xfrm>
            <a:off x="1304235" y="925994"/>
            <a:ext cx="5226363" cy="4874910"/>
            <a:chOff x="-457224" y="-6320771"/>
            <a:chExt cx="10452727" cy="9749820"/>
          </a:xfrm>
        </p:grpSpPr>
        <p:sp>
          <p:nvSpPr>
            <p:cNvPr id="96" name="Google Shape;96;p13"/>
            <p:cNvSpPr txBox="1"/>
            <p:nvPr/>
          </p:nvSpPr>
          <p:spPr>
            <a:xfrm>
              <a:off x="-457224" y="-6320771"/>
              <a:ext cx="10452727" cy="59831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81000"/>
                </a:lnSpc>
              </a:pPr>
              <a:r>
                <a:rPr lang="en-US" sz="8000" b="1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STROKE FACTOR</a:t>
              </a:r>
            </a:p>
            <a:p>
              <a:pPr algn="ctr">
                <a:lnSpc>
                  <a:spcPct val="81000"/>
                </a:lnSpc>
              </a:pPr>
              <a:r>
                <a:rPr lang="en-US" sz="8000" b="1" dirty="0">
                  <a:solidFill>
                    <a:srgbClr val="000000"/>
                  </a:solidFill>
                  <a:latin typeface="DM Sans"/>
                  <a:sym typeface="DM Sans"/>
                </a:rPr>
                <a:t>ANALYSIS</a:t>
              </a:r>
              <a:endParaRPr sz="1200" dirty="0"/>
            </a:p>
          </p:txBody>
        </p:sp>
        <p:sp>
          <p:nvSpPr>
            <p:cNvPr id="97" name="Google Shape;97;p13"/>
            <p:cNvSpPr txBox="1"/>
            <p:nvPr/>
          </p:nvSpPr>
          <p:spPr>
            <a:xfrm>
              <a:off x="189816" y="-559735"/>
              <a:ext cx="9158643" cy="39887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81000"/>
                </a:lnSpc>
              </a:pPr>
              <a:r>
                <a:rPr lang="en-US" sz="4000" b="1" dirty="0">
                  <a:solidFill>
                    <a:srgbClr val="000000"/>
                  </a:solidFill>
                  <a:latin typeface="DM Sans"/>
                  <a:sym typeface="DM Sans"/>
                </a:rPr>
                <a:t>How to address the long-term prevention of stroke risk factors</a:t>
              </a:r>
              <a:endParaRPr sz="4000" dirty="0"/>
            </a:p>
          </p:txBody>
        </p:sp>
      </p:grpSp>
      <p:sp>
        <p:nvSpPr>
          <p:cNvPr id="98" name="Google Shape;98;p13"/>
          <p:cNvSpPr txBox="1"/>
          <p:nvPr/>
        </p:nvSpPr>
        <p:spPr>
          <a:xfrm>
            <a:off x="999302" y="6153610"/>
            <a:ext cx="287066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Cohort 8 – DS3</a:t>
            </a:r>
            <a:endParaRPr sz="1200" dirty="0"/>
          </a:p>
        </p:txBody>
      </p:sp>
      <p:sp>
        <p:nvSpPr>
          <p:cNvPr id="99" name="Google Shape;99;p13"/>
          <p:cNvSpPr txBox="1"/>
          <p:nvPr/>
        </p:nvSpPr>
        <p:spPr>
          <a:xfrm>
            <a:off x="3869963" y="6153610"/>
            <a:ext cx="287066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40000"/>
              </a:lnSpc>
            </a:pPr>
            <a:r>
              <a:rPr lang="en-US" sz="1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03/07/2026</a:t>
            </a:r>
            <a:endParaRPr sz="12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610" y="1500979"/>
            <a:ext cx="4457758" cy="3396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7" name="Google Shape;277;p23"/>
          <p:cNvCxnSpPr/>
          <p:nvPr/>
        </p:nvCxnSpPr>
        <p:spPr>
          <a:xfrm rot="10800000">
            <a:off x="6096000" y="0"/>
            <a:ext cx="12700" cy="685942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8" name="Google Shape;278;p23"/>
          <p:cNvSpPr txBox="1"/>
          <p:nvPr/>
        </p:nvSpPr>
        <p:spPr>
          <a:xfrm>
            <a:off x="616400" y="1994640"/>
            <a:ext cx="4863200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6400" b="1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Team Members</a:t>
            </a:r>
            <a:endParaRPr sz="1200" dirty="0"/>
          </a:p>
        </p:txBody>
      </p:sp>
      <p:sp>
        <p:nvSpPr>
          <p:cNvPr id="279" name="Google Shape;279;p23"/>
          <p:cNvSpPr txBox="1"/>
          <p:nvPr/>
        </p:nvSpPr>
        <p:spPr>
          <a:xfrm>
            <a:off x="6794275" y="1502197"/>
            <a:ext cx="4712149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Adnan Takash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Aravind Vijayaragavan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Azadeh </a:t>
            </a:r>
            <a:r>
              <a:rPr lang="en-US" sz="3200" dirty="0" err="1"/>
              <a:t>Selahvarzi</a:t>
            </a:r>
            <a:endParaRPr lang="en-US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Karen Huang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Naveen Kumar Nair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Yuli Zhang</a:t>
            </a:r>
          </a:p>
        </p:txBody>
      </p:sp>
    </p:spTree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8B31EF99-0A3C-FDBB-32CF-EA2C40AA6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3">
            <a:extLst>
              <a:ext uri="{FF2B5EF4-FFF2-40B4-BE49-F238E27FC236}">
                <a16:creationId xmlns:a16="http://schemas.microsoft.com/office/drawing/2014/main" id="{D1BB4620-696B-D377-D1DF-6F1382F0C288}"/>
              </a:ext>
            </a:extLst>
          </p:cNvPr>
          <p:cNvSpPr txBox="1"/>
          <p:nvPr/>
        </p:nvSpPr>
        <p:spPr>
          <a:xfrm>
            <a:off x="1638965" y="484948"/>
            <a:ext cx="847070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4800" b="1" spc="-100" dirty="0">
                <a:solidFill>
                  <a:srgbClr val="000000"/>
                </a:solidFill>
                <a:latin typeface="DM Sans"/>
                <a:sym typeface="DM Sans"/>
              </a:rPr>
              <a:t>Business Case</a:t>
            </a:r>
            <a:endParaRPr sz="4800" b="1" spc="-100" dirty="0">
              <a:solidFill>
                <a:srgbClr val="000000"/>
              </a:solidFill>
              <a:latin typeface="DM Sans"/>
            </a:endParaRPr>
          </a:p>
        </p:txBody>
      </p:sp>
      <p:sp>
        <p:nvSpPr>
          <p:cNvPr id="279" name="Google Shape;279;p23">
            <a:extLst>
              <a:ext uri="{FF2B5EF4-FFF2-40B4-BE49-F238E27FC236}">
                <a16:creationId xmlns:a16="http://schemas.microsoft.com/office/drawing/2014/main" id="{0AF21EBD-1FDC-2D2F-FBB8-D370362333AC}"/>
              </a:ext>
            </a:extLst>
          </p:cNvPr>
          <p:cNvSpPr txBox="1"/>
          <p:nvPr/>
        </p:nvSpPr>
        <p:spPr>
          <a:xfrm>
            <a:off x="691924" y="1701665"/>
            <a:ext cx="11297825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Identify the top 3 predictors of stroke risk from the dataset and determine whether they are primarily lifestyle-based or health-based factors.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Transform complex health data into an actionable priority list to guide prevention strategies.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Enable proactive healthcare interventions that reduce preventable hospitalizations and improve long-term health outcomes.</a:t>
            </a:r>
          </a:p>
        </p:txBody>
      </p:sp>
    </p:spTree>
    <p:extLst>
      <p:ext uri="{BB962C8B-B14F-4D97-AF65-F5344CB8AC3E}">
        <p14:creationId xmlns:p14="http://schemas.microsoft.com/office/powerpoint/2010/main" val="3083323049"/>
      </p:ext>
    </p:extLst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8B31EF99-0A3C-FDBB-32CF-EA2C40AA6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3">
            <a:extLst>
              <a:ext uri="{FF2B5EF4-FFF2-40B4-BE49-F238E27FC236}">
                <a16:creationId xmlns:a16="http://schemas.microsoft.com/office/drawing/2014/main" id="{D1BB4620-696B-D377-D1DF-6F1382F0C288}"/>
              </a:ext>
            </a:extLst>
          </p:cNvPr>
          <p:cNvSpPr txBox="1"/>
          <p:nvPr/>
        </p:nvSpPr>
        <p:spPr>
          <a:xfrm>
            <a:off x="1638965" y="484948"/>
            <a:ext cx="993204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4800" b="1" spc="-100" dirty="0">
                <a:solidFill>
                  <a:srgbClr val="000000"/>
                </a:solidFill>
                <a:latin typeface="DM Sans"/>
                <a:sym typeface="DM Sans"/>
              </a:rPr>
              <a:t>The Problem to Tackle</a:t>
            </a:r>
            <a:endParaRPr sz="4800" b="1" spc="-100" dirty="0">
              <a:solidFill>
                <a:srgbClr val="000000"/>
              </a:solidFill>
              <a:latin typeface="DM Sans"/>
            </a:endParaRPr>
          </a:p>
        </p:txBody>
      </p:sp>
      <p:sp>
        <p:nvSpPr>
          <p:cNvPr id="279" name="Google Shape;279;p23">
            <a:extLst>
              <a:ext uri="{FF2B5EF4-FFF2-40B4-BE49-F238E27FC236}">
                <a16:creationId xmlns:a16="http://schemas.microsoft.com/office/drawing/2014/main" id="{0AF21EBD-1FDC-2D2F-FBB8-D370362333AC}"/>
              </a:ext>
            </a:extLst>
          </p:cNvPr>
          <p:cNvSpPr txBox="1"/>
          <p:nvPr/>
        </p:nvSpPr>
        <p:spPr>
          <a:xfrm>
            <a:off x="691924" y="1701665"/>
            <a:ext cx="11297825" cy="3447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Stroke is a major global health burden, ranking as the 3rd leading cause of disability and mortality.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High economic impact: In Canada, average 1-year stroke costs exceed $33,000 per patient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Prevention gap: Preventive care is more effective and less costly than reactive treatment. Large amounts of data, make it difficult to identify the most critical risk factors to target</a:t>
            </a:r>
            <a:r>
              <a:rPr lang="en-US" sz="3200" b="1" dirty="0"/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6651663"/>
      </p:ext>
    </p:extLst>
  </p:cSld>
  <p:clrMapOvr>
    <a:masterClrMapping/>
  </p:clrMapOvr>
  <p:transition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"/>
          <p:cNvSpPr txBox="1"/>
          <p:nvPr/>
        </p:nvSpPr>
        <p:spPr>
          <a:xfrm>
            <a:off x="610277" y="585856"/>
            <a:ext cx="9584856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4800" b="1" spc="-100" dirty="0">
                <a:solidFill>
                  <a:srgbClr val="000000"/>
                </a:solidFill>
                <a:latin typeface="DM Sans"/>
              </a:rPr>
              <a:t>Stroke Class Distribution</a:t>
            </a:r>
            <a:endParaRPr sz="4800" b="1" spc="-100" dirty="0">
              <a:solidFill>
                <a:srgbClr val="000000"/>
              </a:solidFill>
              <a:latin typeface="DM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A07D56-E8C5-9FF7-C661-6D8888A990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474" y="1676356"/>
            <a:ext cx="5546596" cy="435120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85F488-7E4C-8F44-ED85-A8704FF7952D}"/>
              </a:ext>
            </a:extLst>
          </p:cNvPr>
          <p:cNvSpPr txBox="1"/>
          <p:nvPr/>
        </p:nvSpPr>
        <p:spPr>
          <a:xfrm>
            <a:off x="7469322" y="1942240"/>
            <a:ext cx="33325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Percentage distribution: Class	      	      % </a:t>
            </a:r>
          </a:p>
          <a:p>
            <a:r>
              <a:rPr lang="en-US" dirty="0"/>
              <a:t>0 (No stroke)	 95.13</a:t>
            </a:r>
          </a:p>
          <a:p>
            <a:r>
              <a:rPr lang="en-US" dirty="0"/>
              <a:t>1 (Stroke)	 4.87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0DB31-32DA-7922-B217-9A1505A0685E}"/>
              </a:ext>
            </a:extLst>
          </p:cNvPr>
          <p:cNvSpPr txBox="1"/>
          <p:nvPr/>
        </p:nvSpPr>
        <p:spPr>
          <a:xfrm>
            <a:off x="7045128" y="4399095"/>
            <a:ext cx="46952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Takeaways: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The dataset is highly imbalanced (5% positive class)</a:t>
            </a:r>
          </a:p>
        </p:txBody>
      </p:sp>
    </p:spTree>
  </p:cSld>
  <p:clrMapOvr>
    <a:masterClrMapping/>
  </p:clrMapOvr>
  <p:transition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7" name="Google Shape;277;p23"/>
          <p:cNvCxnSpPr/>
          <p:nvPr/>
        </p:nvCxnSpPr>
        <p:spPr>
          <a:xfrm rot="10800000">
            <a:off x="8034163" y="-10202"/>
            <a:ext cx="12700" cy="685942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8" name="Google Shape;278;p23"/>
          <p:cNvSpPr txBox="1"/>
          <p:nvPr/>
        </p:nvSpPr>
        <p:spPr>
          <a:xfrm>
            <a:off x="7514014" y="977462"/>
            <a:ext cx="5161461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4800" b="1" spc="-100" dirty="0">
                <a:solidFill>
                  <a:srgbClr val="000000"/>
                </a:solidFill>
                <a:latin typeface="DM Sans"/>
                <a:sym typeface="DM Sans"/>
              </a:rPr>
              <a:t>Normalized</a:t>
            </a:r>
          </a:p>
          <a:p>
            <a:pPr algn="ctr">
              <a:spcBef>
                <a:spcPct val="0"/>
              </a:spcBef>
            </a:pPr>
            <a:r>
              <a:rPr lang="en-US" sz="4800" b="1" spc="-100" dirty="0">
                <a:solidFill>
                  <a:srgbClr val="000000"/>
                </a:solidFill>
                <a:latin typeface="DM Sans"/>
                <a:sym typeface="DM Sans"/>
              </a:rPr>
              <a:t>Box Plot</a:t>
            </a:r>
            <a:endParaRPr sz="4800" b="1" spc="-100" dirty="0">
              <a:solidFill>
                <a:srgbClr val="000000"/>
              </a:solidFill>
              <a:latin typeface="DM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013F98F-F016-44BD-F010-15306E3E37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261" y="1430141"/>
            <a:ext cx="7351082" cy="39787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96EB63-2418-7F70-8C36-AF98EA97CC75}"/>
              </a:ext>
            </a:extLst>
          </p:cNvPr>
          <p:cNvSpPr txBox="1"/>
          <p:nvPr/>
        </p:nvSpPr>
        <p:spPr>
          <a:xfrm>
            <a:off x="8555421" y="3037490"/>
            <a:ext cx="293851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CA" dirty="0"/>
              <a:t>Note how age is largely devoid of outliers, but glucose and BMI are not</a:t>
            </a:r>
          </a:p>
          <a:p>
            <a:pPr marL="285750" indent="-285750">
              <a:buFontTx/>
              <a:buChar char="-"/>
            </a:pPr>
            <a:r>
              <a:rPr lang="en-CA" dirty="0"/>
              <a:t>How does age affect these factors, and how resilient they are?</a:t>
            </a:r>
          </a:p>
        </p:txBody>
      </p:sp>
    </p:spTree>
  </p:cSld>
  <p:clrMapOvr>
    <a:masterClrMapping/>
  </p:clrMapOvr>
  <p:transition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>
          <a:extLst>
            <a:ext uri="{FF2B5EF4-FFF2-40B4-BE49-F238E27FC236}">
              <a16:creationId xmlns:a16="http://schemas.microsoft.com/office/drawing/2014/main" id="{947DD4A1-7A93-C10E-5A07-4EC5C6816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6" name="Google Shape;266;p22">
            <a:extLst>
              <a:ext uri="{FF2B5EF4-FFF2-40B4-BE49-F238E27FC236}">
                <a16:creationId xmlns:a16="http://schemas.microsoft.com/office/drawing/2014/main" id="{4720075E-3549-58CE-84BB-F4BF021C35F2}"/>
              </a:ext>
            </a:extLst>
          </p:cNvPr>
          <p:cNvCxnSpPr/>
          <p:nvPr/>
        </p:nvCxnSpPr>
        <p:spPr>
          <a:xfrm rot="10800000">
            <a:off x="-63217" y="3422650"/>
            <a:ext cx="12293931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7" name="Google Shape;267;p22">
            <a:extLst>
              <a:ext uri="{FF2B5EF4-FFF2-40B4-BE49-F238E27FC236}">
                <a16:creationId xmlns:a16="http://schemas.microsoft.com/office/drawing/2014/main" id="{60A48628-491D-52BC-6A6C-51D0ABB32F30}"/>
              </a:ext>
            </a:extLst>
          </p:cNvPr>
          <p:cNvCxnSpPr/>
          <p:nvPr/>
        </p:nvCxnSpPr>
        <p:spPr>
          <a:xfrm rot="10800000">
            <a:off x="6096000" y="0"/>
            <a:ext cx="12700" cy="685942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8" name="Google Shape;268;p22">
            <a:extLst>
              <a:ext uri="{FF2B5EF4-FFF2-40B4-BE49-F238E27FC236}">
                <a16:creationId xmlns:a16="http://schemas.microsoft.com/office/drawing/2014/main" id="{2C79D34E-94D8-D801-ABDE-B73F1E41CFCB}"/>
              </a:ext>
            </a:extLst>
          </p:cNvPr>
          <p:cNvSpPr txBox="1"/>
          <p:nvPr/>
        </p:nvSpPr>
        <p:spPr>
          <a:xfrm>
            <a:off x="610276" y="1015885"/>
            <a:ext cx="486319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4800" b="1" spc="-100" dirty="0">
                <a:solidFill>
                  <a:srgbClr val="000000"/>
                </a:solidFill>
                <a:latin typeface="DM Sans"/>
              </a:rPr>
              <a:t>Bar Plot by Class</a:t>
            </a:r>
            <a:endParaRPr sz="4800" b="1" spc="-100" dirty="0">
              <a:solidFill>
                <a:srgbClr val="000000"/>
              </a:solidFill>
              <a:latin typeface="DM Sa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F19372-0553-7137-2291-67799FF3C0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323" y="3809474"/>
            <a:ext cx="3437272" cy="2543969"/>
          </a:xfrm>
          <a:prstGeom prst="rect">
            <a:avLst/>
          </a:prstGeom>
          <a:ln w="19050">
            <a:solidFill>
              <a:srgbClr val="000000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2D48C9-B9D9-3D2B-9218-FC264F29C9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260" y="3809474"/>
            <a:ext cx="3626836" cy="2639530"/>
          </a:xfrm>
          <a:prstGeom prst="rect">
            <a:avLst/>
          </a:prstGeom>
          <a:ln w="19050">
            <a:solidFill>
              <a:srgbClr val="00000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9634D9-7FC0-117B-8A62-3B88358535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030" y="517489"/>
            <a:ext cx="3653295" cy="2658787"/>
          </a:xfrm>
          <a:prstGeom prst="rect">
            <a:avLst/>
          </a:prstGeom>
          <a:ln w="1905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37934500"/>
      </p:ext>
    </p:extLst>
  </p:cSld>
  <p:clrMapOvr>
    <a:masterClrMapping/>
  </p:clrMapOvr>
  <p:transition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>
          <a:extLst>
            <a:ext uri="{FF2B5EF4-FFF2-40B4-BE49-F238E27FC236}">
              <a16:creationId xmlns:a16="http://schemas.microsoft.com/office/drawing/2014/main" id="{1683D3BF-B4ED-42E6-86A6-2A1EAF00F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6" name="Google Shape;266;p22">
            <a:extLst>
              <a:ext uri="{FF2B5EF4-FFF2-40B4-BE49-F238E27FC236}">
                <a16:creationId xmlns:a16="http://schemas.microsoft.com/office/drawing/2014/main" id="{6C4CB194-3F99-F963-06DC-A6BAC75D6959}"/>
              </a:ext>
            </a:extLst>
          </p:cNvPr>
          <p:cNvCxnSpPr/>
          <p:nvPr/>
        </p:nvCxnSpPr>
        <p:spPr>
          <a:xfrm rot="10800000">
            <a:off x="-274340" y="1619976"/>
            <a:ext cx="12293931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7" name="Google Shape;267;p22">
            <a:extLst>
              <a:ext uri="{FF2B5EF4-FFF2-40B4-BE49-F238E27FC236}">
                <a16:creationId xmlns:a16="http://schemas.microsoft.com/office/drawing/2014/main" id="{BAA337C0-DD81-20FF-0DC1-703222A2DE86}"/>
              </a:ext>
            </a:extLst>
          </p:cNvPr>
          <p:cNvCxnSpPr/>
          <p:nvPr/>
        </p:nvCxnSpPr>
        <p:spPr>
          <a:xfrm rot="10800000">
            <a:off x="6096000" y="0"/>
            <a:ext cx="12700" cy="685942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8" name="Google Shape;268;p22">
            <a:extLst>
              <a:ext uri="{FF2B5EF4-FFF2-40B4-BE49-F238E27FC236}">
                <a16:creationId xmlns:a16="http://schemas.microsoft.com/office/drawing/2014/main" id="{36797858-C2D6-AD12-CC43-19AC586EB4A4}"/>
              </a:ext>
            </a:extLst>
          </p:cNvPr>
          <p:cNvSpPr txBox="1"/>
          <p:nvPr/>
        </p:nvSpPr>
        <p:spPr>
          <a:xfrm>
            <a:off x="0" y="616981"/>
            <a:ext cx="609599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4800" b="1" spc="-100" dirty="0">
                <a:solidFill>
                  <a:srgbClr val="000000"/>
                </a:solidFill>
                <a:latin typeface="DM Sans"/>
              </a:rPr>
              <a:t>Correlation Plots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8E9E19C-C61E-9265-7C44-B705FBED99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88" y="1888443"/>
            <a:ext cx="5013908" cy="4354004"/>
          </a:xfrm>
          <a:prstGeom prst="rect">
            <a:avLst/>
          </a:prstGeom>
          <a:ln w="19050">
            <a:solidFill>
              <a:srgbClr val="000000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87FEBCD-AFA2-ADAD-BFA3-A9AACDD095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5103" y="1888443"/>
            <a:ext cx="5013908" cy="4354004"/>
          </a:xfrm>
          <a:prstGeom prst="rect">
            <a:avLst/>
          </a:prstGeom>
          <a:ln w="19050">
            <a:solidFill>
              <a:srgbClr val="000000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31FBEF-70B0-2A0D-07F3-5A0102AC4CDC}"/>
              </a:ext>
            </a:extLst>
          </p:cNvPr>
          <p:cNvSpPr txBox="1"/>
          <p:nvPr/>
        </p:nvSpPr>
        <p:spPr>
          <a:xfrm>
            <a:off x="6725103" y="540068"/>
            <a:ext cx="4850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CA" dirty="0"/>
              <a:t>Spearman (nonlinear) vs Pearson (linear)</a:t>
            </a:r>
          </a:p>
          <a:p>
            <a:pPr marL="285750" indent="-285750">
              <a:buFontTx/>
              <a:buChar char="-"/>
            </a:pPr>
            <a:r>
              <a:rPr lang="en-CA" dirty="0"/>
              <a:t>Correlation is weak for both &lt; 0.5</a:t>
            </a:r>
          </a:p>
        </p:txBody>
      </p:sp>
    </p:spTree>
    <p:extLst>
      <p:ext uri="{BB962C8B-B14F-4D97-AF65-F5344CB8AC3E}">
        <p14:creationId xmlns:p14="http://schemas.microsoft.com/office/powerpoint/2010/main" val="587567508"/>
      </p:ext>
    </p:extLst>
  </p:cSld>
  <p:clrMapOvr>
    <a:masterClrMapping/>
  </p:clrMapOvr>
  <p:transition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D4560813-2923-7F73-656A-6594E575D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3">
            <a:extLst>
              <a:ext uri="{FF2B5EF4-FFF2-40B4-BE49-F238E27FC236}">
                <a16:creationId xmlns:a16="http://schemas.microsoft.com/office/drawing/2014/main" id="{CEC4A98B-F1A1-0DEB-A3FE-E6F2991CED65}"/>
              </a:ext>
            </a:extLst>
          </p:cNvPr>
          <p:cNvSpPr txBox="1"/>
          <p:nvPr/>
        </p:nvSpPr>
        <p:spPr>
          <a:xfrm>
            <a:off x="240527" y="578867"/>
            <a:ext cx="1170649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4800" b="1" spc="-100" dirty="0">
                <a:solidFill>
                  <a:srgbClr val="000000"/>
                </a:solidFill>
                <a:latin typeface="DM Sans"/>
                <a:sym typeface="DM Sans"/>
              </a:rPr>
              <a:t>Classification Modelling Findings</a:t>
            </a:r>
            <a:endParaRPr sz="4800" b="1" spc="-100" dirty="0">
              <a:solidFill>
                <a:srgbClr val="000000"/>
              </a:solidFill>
              <a:latin typeface="DM Sans"/>
            </a:endParaRPr>
          </a:p>
        </p:txBody>
      </p:sp>
      <p:sp>
        <p:nvSpPr>
          <p:cNvPr id="279" name="Google Shape;279;p23">
            <a:extLst>
              <a:ext uri="{FF2B5EF4-FFF2-40B4-BE49-F238E27FC236}">
                <a16:creationId xmlns:a16="http://schemas.microsoft.com/office/drawing/2014/main" id="{80C2D2E7-712E-6CB3-00B2-3EA19C4F4F3F}"/>
              </a:ext>
            </a:extLst>
          </p:cNvPr>
          <p:cNvSpPr txBox="1"/>
          <p:nvPr/>
        </p:nvSpPr>
        <p:spPr>
          <a:xfrm>
            <a:off x="461841" y="1767117"/>
            <a:ext cx="11211714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dataset is highly imbalanced (5% positive class)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Tree-based models best for imbalanced data.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Logistic Regression performed well when using balanced class weights.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Therefore, three models were selected for the analysis: </a:t>
            </a:r>
            <a:r>
              <a:rPr lang="en-US" sz="2400" dirty="0" err="1"/>
              <a:t>XGBoost</a:t>
            </a:r>
            <a:r>
              <a:rPr lang="en-US" sz="2400" dirty="0"/>
              <a:t>, Random Forest, and Logistic Regression.</a:t>
            </a:r>
          </a:p>
        </p:txBody>
      </p:sp>
    </p:spTree>
    <p:extLst>
      <p:ext uri="{BB962C8B-B14F-4D97-AF65-F5344CB8AC3E}">
        <p14:creationId xmlns:p14="http://schemas.microsoft.com/office/powerpoint/2010/main" val="4218661914"/>
      </p:ext>
    </p:extLst>
  </p:cSld>
  <p:clrMapOvr>
    <a:masterClrMapping/>
  </p:clrMapOvr>
  <p:transition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10B9E-90C0-9670-DAA4-76A271EAE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000000"/>
                </a:solidFill>
                <a:latin typeface="DM Sans"/>
                <a:ea typeface="+mn-ea"/>
                <a:cs typeface="+mn-cs"/>
              </a:rPr>
              <a:t>Classification Threshold- Recall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483A5E-4DDA-A3E0-EDFB-D0FF1AA4EAB5}"/>
              </a:ext>
            </a:extLst>
          </p:cNvPr>
          <p:cNvSpPr txBox="1"/>
          <p:nvPr/>
        </p:nvSpPr>
        <p:spPr>
          <a:xfrm>
            <a:off x="2190306" y="5635256"/>
            <a:ext cx="54395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Recall: 0.8</a:t>
            </a:r>
          </a:p>
          <a:p>
            <a:r>
              <a:rPr lang="en-US" dirty="0"/>
              <a:t>Random Forest: Threshold: 0.24, PR-AUC: 0.22</a:t>
            </a:r>
          </a:p>
          <a:p>
            <a:r>
              <a:rPr lang="en-US" dirty="0"/>
              <a:t>XG Boost:              Threshold: 0.51, PR-AUC: 0.26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5444B8-5D86-E68B-3EBA-EF948AAAA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106" y="1690688"/>
            <a:ext cx="5486411" cy="35935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75BDA9-A3D6-7D87-07BD-09F6863468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8517" y="1632200"/>
            <a:ext cx="5605283" cy="359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189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460DC-725D-68D9-A0E1-CA81CA68E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000000"/>
                </a:solidFill>
                <a:latin typeface="DM Sans"/>
                <a:ea typeface="+mn-ea"/>
                <a:cs typeface="+mn-cs"/>
              </a:rPr>
              <a:t>Confusion Matrix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074982-224C-F718-2655-1ADD433920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652" y="1444429"/>
            <a:ext cx="4636017" cy="41605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EDA505-3CDA-18D8-27DB-EA9CCD764C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44429"/>
            <a:ext cx="4636017" cy="416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675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9DFEB-0CA1-CB6C-4AFD-3BC259ED3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800" b="1" dirty="0">
                <a:solidFill>
                  <a:srgbClr val="000000"/>
                </a:solidFill>
                <a:latin typeface="DM Sans"/>
                <a:ea typeface="+mn-ea"/>
                <a:cs typeface="+mn-cs"/>
              </a:rPr>
              <a:t>Precision Recall-Area Under Curve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4FECA0-84D6-8895-9DCD-7AAC0FE961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39853"/>
            <a:ext cx="4096520" cy="41605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E99F0D-6888-2FD5-992A-E287A97837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8075" y="2039853"/>
            <a:ext cx="4096520" cy="416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447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C30281B-3760-2161-5794-B3B88C138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7" name="Google Shape;277;p23">
            <a:extLst>
              <a:ext uri="{FF2B5EF4-FFF2-40B4-BE49-F238E27FC236}">
                <a16:creationId xmlns:a16="http://schemas.microsoft.com/office/drawing/2014/main" id="{AB0BA0EA-3DF6-19F9-C9DA-6139AA37C04B}"/>
              </a:ext>
            </a:extLst>
          </p:cNvPr>
          <p:cNvCxnSpPr/>
          <p:nvPr/>
        </p:nvCxnSpPr>
        <p:spPr>
          <a:xfrm rot="10800000">
            <a:off x="6096000" y="0"/>
            <a:ext cx="12700" cy="685942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8" name="Google Shape;278;p23">
            <a:extLst>
              <a:ext uri="{FF2B5EF4-FFF2-40B4-BE49-F238E27FC236}">
                <a16:creationId xmlns:a16="http://schemas.microsoft.com/office/drawing/2014/main" id="{BDC5E0E6-5A49-9DBF-73D2-BF8F66CA890E}"/>
              </a:ext>
            </a:extLst>
          </p:cNvPr>
          <p:cNvSpPr txBox="1"/>
          <p:nvPr/>
        </p:nvSpPr>
        <p:spPr>
          <a:xfrm>
            <a:off x="240527" y="1459230"/>
            <a:ext cx="5627646" cy="246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4800" b="1" spc="-100" dirty="0">
                <a:solidFill>
                  <a:srgbClr val="000000"/>
                </a:solidFill>
                <a:latin typeface="DM Sans"/>
                <a:sym typeface="DM Sans"/>
              </a:rPr>
              <a:t>Key Data</a:t>
            </a:r>
          </a:p>
          <a:p>
            <a:pPr algn="ctr"/>
            <a:r>
              <a:rPr lang="en-US" sz="4800" b="1" spc="-100" dirty="0">
                <a:solidFill>
                  <a:srgbClr val="000000"/>
                </a:solidFill>
                <a:latin typeface="DM Sans"/>
                <a:sym typeface="DM Sans"/>
              </a:rPr>
              <a:t>Findings</a:t>
            </a:r>
          </a:p>
          <a:p>
            <a:pPr algn="ctr"/>
            <a:r>
              <a:rPr lang="en-US" sz="4800" b="1" spc="-100" dirty="0">
                <a:solidFill>
                  <a:srgbClr val="000000"/>
                </a:solidFill>
                <a:latin typeface="DM Sans"/>
                <a:sym typeface="DM Sans"/>
              </a:rPr>
              <a:t>For</a:t>
            </a:r>
            <a:r>
              <a:rPr lang="en-US" sz="6400" b="1" dirty="0">
                <a:solidFill>
                  <a:srgbClr val="000000"/>
                </a:solidFill>
                <a:latin typeface="DM Sans"/>
                <a:sym typeface="DM Sans"/>
              </a:rPr>
              <a:t> </a:t>
            </a:r>
            <a:r>
              <a:rPr lang="en-US" sz="4800" b="1" spc="-100" dirty="0">
                <a:solidFill>
                  <a:srgbClr val="000000"/>
                </a:solidFill>
                <a:latin typeface="DM Sans"/>
                <a:sym typeface="DM Sans"/>
              </a:rPr>
              <a:t>Stakeholders</a:t>
            </a:r>
            <a:endParaRPr sz="4800" b="1" spc="-100" dirty="0">
              <a:solidFill>
                <a:srgbClr val="000000"/>
              </a:solidFill>
              <a:latin typeface="DM Sans"/>
            </a:endParaRPr>
          </a:p>
        </p:txBody>
      </p:sp>
      <p:sp>
        <p:nvSpPr>
          <p:cNvPr id="279" name="Google Shape;279;p23">
            <a:extLst>
              <a:ext uri="{FF2B5EF4-FFF2-40B4-BE49-F238E27FC236}">
                <a16:creationId xmlns:a16="http://schemas.microsoft.com/office/drawing/2014/main" id="{55D299CF-9DA6-DBEF-7627-FDF69A2D3F0C}"/>
              </a:ext>
            </a:extLst>
          </p:cNvPr>
          <p:cNvSpPr txBox="1"/>
          <p:nvPr/>
        </p:nvSpPr>
        <p:spPr>
          <a:xfrm>
            <a:off x="6794275" y="1502197"/>
            <a:ext cx="4712149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/>
              <a:t>Blood Glucose, Old Age, High BMI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/>
              <a:t>Different models weight age higher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/>
              <a:t>Does age make BMI and Glucose harder to reduce?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/>
              <a:t>What does this mean for our solution?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08245426"/>
      </p:ext>
    </p:extLst>
  </p:cSld>
  <p:clrMapOvr>
    <a:masterClrMapping/>
  </p:clrMapOvr>
  <p:transition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E5768-5196-E7B0-5832-1C34EADE2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000000"/>
                </a:solidFill>
                <a:latin typeface="DM Sans"/>
                <a:ea typeface="+mn-ea"/>
                <a:cs typeface="+mn-cs"/>
              </a:rPr>
              <a:t>Top 10 Important Features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8ED54E-6A0F-3791-032C-7B6A9F60D7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102" y="1451075"/>
            <a:ext cx="9637795" cy="4297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312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84273-F5F3-6139-2570-575B7D985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000000"/>
                </a:solidFill>
                <a:latin typeface="DM Sans"/>
                <a:ea typeface="+mn-ea"/>
                <a:cs typeface="+mn-cs"/>
              </a:rPr>
              <a:t>Top 10 Important Features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207C6A-CBC3-B195-4FA4-064B4BCEDF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100" y="1502346"/>
            <a:ext cx="9637795" cy="4297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045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13E3048-8AB0-6339-1911-14C3BD8B35D9}"/>
              </a:ext>
            </a:extLst>
          </p:cNvPr>
          <p:cNvSpPr txBox="1"/>
          <p:nvPr/>
        </p:nvSpPr>
        <p:spPr>
          <a:xfrm>
            <a:off x="8699618" y="1452784"/>
            <a:ext cx="30935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SHAP bar plot highlights the variables that most strongly influence the model’s predictions, ranking them by their overall importance.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SHAP bar plot shows which variables are most important overall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C5116E7-9696-4B20-3D8A-0031F5B899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668" y="1295652"/>
            <a:ext cx="7818944" cy="4634901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25BEFA8-7ED3-BA25-9651-0FE3544DB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302" y="652204"/>
            <a:ext cx="10515600" cy="1006475"/>
          </a:xfrm>
        </p:spPr>
        <p:txBody>
          <a:bodyPr>
            <a:no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  <a:latin typeface="DM Sans"/>
                <a:ea typeface="+mn-ea"/>
                <a:cs typeface="+mn-cs"/>
              </a:rPr>
              <a:t>SHAP Bar </a:t>
            </a:r>
            <a:r>
              <a:rPr lang="en-US" sz="4800" b="1" dirty="0">
                <a:solidFill>
                  <a:srgbClr val="000000"/>
                </a:solidFill>
                <a:latin typeface="DM Sans"/>
                <a:ea typeface="+mn-ea"/>
                <a:cs typeface="+mn-cs"/>
              </a:rPr>
              <a:t>Plots</a:t>
            </a:r>
            <a:br>
              <a:rPr lang="en-US" sz="4800" b="1" dirty="0">
                <a:solidFill>
                  <a:srgbClr val="000000"/>
                </a:solidFill>
                <a:latin typeface="DM Sans"/>
                <a:ea typeface="+mn-ea"/>
                <a:cs typeface="+mn-cs"/>
              </a:rPr>
            </a:br>
            <a:endParaRPr lang="en-US" sz="4800" b="1" dirty="0">
              <a:solidFill>
                <a:srgbClr val="000000"/>
              </a:solidFill>
              <a:latin typeface="DM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6155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2A1B674-38BE-4390-2336-69EDE0FC8E51}"/>
              </a:ext>
            </a:extLst>
          </p:cNvPr>
          <p:cNvSpPr txBox="1">
            <a:spLocks/>
          </p:cNvSpPr>
          <p:nvPr/>
        </p:nvSpPr>
        <p:spPr>
          <a:xfrm>
            <a:off x="838200" y="49170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EE56EF2-EB15-BDB8-F898-3303C9BB23AB}"/>
              </a:ext>
            </a:extLst>
          </p:cNvPr>
          <p:cNvSpPr txBox="1">
            <a:spLocks/>
          </p:cNvSpPr>
          <p:nvPr/>
        </p:nvSpPr>
        <p:spPr>
          <a:xfrm>
            <a:off x="8952614" y="1190847"/>
            <a:ext cx="3239386" cy="55404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Beeswarm</a:t>
            </a:r>
            <a:r>
              <a:rPr lang="en-US" sz="2400" dirty="0"/>
              <a:t> plot shows how each feature influences model predictions for all observations.</a:t>
            </a:r>
          </a:p>
          <a:p>
            <a:r>
              <a:rPr lang="en-US" sz="2400" dirty="0"/>
              <a:t>Highlighting both feature importance and whether high or low values increase or decrease the prediction.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ED442E-E669-5E39-BCAF-17EC948309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4768"/>
            <a:ext cx="8754504" cy="45452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E1CF65-26FA-FE28-1A72-ABF074E7E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88852"/>
            <a:ext cx="10972800" cy="99060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000000"/>
                </a:solidFill>
                <a:latin typeface="DM Sans"/>
                <a:ea typeface="+mn-ea"/>
                <a:cs typeface="+mn-cs"/>
              </a:rPr>
              <a:t>SHAP </a:t>
            </a:r>
            <a:r>
              <a:rPr lang="en-US" sz="4800" b="1" dirty="0" err="1">
                <a:solidFill>
                  <a:srgbClr val="000000"/>
                </a:solidFill>
                <a:latin typeface="DM Sans"/>
                <a:ea typeface="+mn-ea"/>
                <a:cs typeface="+mn-cs"/>
              </a:rPr>
              <a:t>Beeswarm</a:t>
            </a:r>
            <a:endParaRPr lang="en-US" sz="4800" b="1" dirty="0">
              <a:solidFill>
                <a:srgbClr val="000000"/>
              </a:solidFill>
              <a:latin typeface="DM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76566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91AED-5067-823A-C7CB-1DA20B2CF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000000"/>
                </a:solidFill>
                <a:latin typeface="DM Sans"/>
                <a:ea typeface="+mn-ea"/>
                <a:cs typeface="+mn-cs"/>
              </a:rPr>
              <a:t>SHAP </a:t>
            </a:r>
            <a:r>
              <a:rPr lang="en-US" sz="4800" b="1" dirty="0" err="1">
                <a:solidFill>
                  <a:srgbClr val="000000"/>
                </a:solidFill>
                <a:latin typeface="DM Sans"/>
                <a:ea typeface="+mn-ea"/>
                <a:cs typeface="+mn-cs"/>
              </a:rPr>
              <a:t>Beeswarm</a:t>
            </a:r>
            <a:r>
              <a:rPr lang="en-US" sz="4800" b="1" dirty="0">
                <a:solidFill>
                  <a:srgbClr val="000000"/>
                </a:solidFill>
                <a:latin typeface="DM Sans"/>
                <a:ea typeface="+mn-ea"/>
                <a:cs typeface="+mn-cs"/>
              </a:rPr>
              <a:t> – True Positive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8D01C5-4D40-835B-212D-C7A937F379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751" y="1804079"/>
            <a:ext cx="9030950" cy="468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5787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3FAAA-A097-0BF1-BF9D-904760525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FF90E-7972-2B4C-8068-BE58D8C65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000000"/>
                </a:solidFill>
                <a:latin typeface="DM Sans"/>
                <a:ea typeface="+mn-ea"/>
                <a:cs typeface="+mn-cs"/>
              </a:rPr>
              <a:t>SHAP </a:t>
            </a:r>
            <a:r>
              <a:rPr lang="en-US" sz="4800" b="1" dirty="0" err="1">
                <a:solidFill>
                  <a:srgbClr val="000000"/>
                </a:solidFill>
                <a:latin typeface="DM Sans"/>
                <a:ea typeface="+mn-ea"/>
                <a:cs typeface="+mn-cs"/>
              </a:rPr>
              <a:t>Beeswarm</a:t>
            </a:r>
            <a:r>
              <a:rPr lang="en-US" sz="4800" b="1" dirty="0">
                <a:solidFill>
                  <a:srgbClr val="000000"/>
                </a:solidFill>
                <a:latin typeface="DM Sans"/>
                <a:ea typeface="+mn-ea"/>
                <a:cs typeface="+mn-cs"/>
              </a:rPr>
              <a:t> – False Negative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1D4B84-3D01-1E10-2DB1-50CD84540A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0222" y="1557452"/>
            <a:ext cx="9052578" cy="470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1263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BE34003F-B0E4-9D99-7E7E-4FCB8AECC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7" name="Google Shape;277;p23">
            <a:extLst>
              <a:ext uri="{FF2B5EF4-FFF2-40B4-BE49-F238E27FC236}">
                <a16:creationId xmlns:a16="http://schemas.microsoft.com/office/drawing/2014/main" id="{48FA03B2-BA79-B513-672B-F678ADE015B9}"/>
              </a:ext>
            </a:extLst>
          </p:cNvPr>
          <p:cNvCxnSpPr/>
          <p:nvPr/>
        </p:nvCxnSpPr>
        <p:spPr>
          <a:xfrm rot="10800000">
            <a:off x="6096000" y="0"/>
            <a:ext cx="12700" cy="685942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8" name="Google Shape;278;p23">
            <a:extLst>
              <a:ext uri="{FF2B5EF4-FFF2-40B4-BE49-F238E27FC236}">
                <a16:creationId xmlns:a16="http://schemas.microsoft.com/office/drawing/2014/main" id="{3E731076-B7A8-BFFC-339F-72BC223F4891}"/>
              </a:ext>
            </a:extLst>
          </p:cNvPr>
          <p:cNvSpPr txBox="1"/>
          <p:nvPr/>
        </p:nvSpPr>
        <p:spPr>
          <a:xfrm>
            <a:off x="240527" y="1459230"/>
            <a:ext cx="5627646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4800" b="1" spc="-100" dirty="0">
                <a:solidFill>
                  <a:srgbClr val="000000"/>
                </a:solidFill>
                <a:latin typeface="DM Sans"/>
                <a:sym typeface="DM Sans"/>
              </a:rPr>
              <a:t>Solution to Business Case</a:t>
            </a:r>
            <a:endParaRPr lang="en-CA" sz="4800" b="1" spc="-100" dirty="0">
              <a:solidFill>
                <a:srgbClr val="000000"/>
              </a:solidFill>
              <a:latin typeface="DM Sans"/>
            </a:endParaRPr>
          </a:p>
        </p:txBody>
      </p:sp>
      <p:sp>
        <p:nvSpPr>
          <p:cNvPr id="279" name="Google Shape;279;p23">
            <a:extLst>
              <a:ext uri="{FF2B5EF4-FFF2-40B4-BE49-F238E27FC236}">
                <a16:creationId xmlns:a16="http://schemas.microsoft.com/office/drawing/2014/main" id="{00DCE89C-87BE-BCD7-0E48-058C585160B9}"/>
              </a:ext>
            </a:extLst>
          </p:cNvPr>
          <p:cNvSpPr txBox="1"/>
          <p:nvPr/>
        </p:nvSpPr>
        <p:spPr>
          <a:xfrm>
            <a:off x="6713539" y="701584"/>
            <a:ext cx="4712149" cy="517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b="1" dirty="0"/>
              <a:t>HABIT-FORMING PROGRAM: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400" dirty="0"/>
              <a:t>Focus on long-term good habit development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400" dirty="0"/>
              <a:t>Set up a program with Apple Watch or Fitbit to track changes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400" dirty="0"/>
              <a:t>Enter niche of fitness app programs, but specifically for stroke reduction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400" dirty="0"/>
              <a:t>Apps make it easy for people without a primary healthcare provider to participate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59957635"/>
      </p:ext>
    </p:extLst>
  </p:cSld>
  <p:clrMapOvr>
    <a:masterClrMapping/>
  </p:clrMapOvr>
  <p:transition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5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20652" r="-1236" b="-11174"/>
            </a:stretch>
          </a:blipFill>
          <a:ln>
            <a:noFill/>
          </a:ln>
        </p:spPr>
        <p:txBody>
          <a:bodyPr/>
          <a:lstStyle/>
          <a:p>
            <a:endParaRPr lang="en-CA" sz="1200"/>
          </a:p>
        </p:txBody>
      </p:sp>
      <p:pic>
        <p:nvPicPr>
          <p:cNvPr id="498" name="Google Shape;49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7632" y="682900"/>
            <a:ext cx="5222082" cy="54844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9" name="Google Shape;499;p35"/>
          <p:cNvCxnSpPr/>
          <p:nvPr/>
        </p:nvCxnSpPr>
        <p:spPr>
          <a:xfrm rot="10800000">
            <a:off x="6102350" y="-65298"/>
            <a:ext cx="0" cy="6955829"/>
          </a:xfrm>
          <a:prstGeom prst="straightConnector1">
            <a:avLst/>
          </a:prstGeom>
          <a:noFill/>
          <a:ln w="19050" cap="flat" cmpd="sng">
            <a:solidFill>
              <a:srgbClr val="FFFAF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0" name="Google Shape;500;p35"/>
          <p:cNvSpPr/>
          <p:nvPr/>
        </p:nvSpPr>
        <p:spPr>
          <a:xfrm>
            <a:off x="6527800" y="685800"/>
            <a:ext cx="5222048" cy="5486400"/>
          </a:xfrm>
          <a:custGeom>
            <a:avLst/>
            <a:gdLst/>
            <a:ahLst/>
            <a:cxnLst/>
            <a:rect l="l" t="t" r="r" b="b"/>
            <a:pathLst>
              <a:path w="2063031" h="2167467" extrusionOk="0">
                <a:moveTo>
                  <a:pt x="0" y="0"/>
                </a:moveTo>
                <a:lnTo>
                  <a:pt x="2063031" y="0"/>
                </a:lnTo>
                <a:lnTo>
                  <a:pt x="2063031" y="2167467"/>
                </a:lnTo>
                <a:lnTo>
                  <a:pt x="0" y="216746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flat" cmpd="sng">
            <a:solidFill>
              <a:srgbClr val="FFFAF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CA" sz="1200"/>
          </a:p>
        </p:txBody>
      </p:sp>
      <p:sp>
        <p:nvSpPr>
          <p:cNvPr id="501" name="Google Shape;501;p35"/>
          <p:cNvSpPr txBox="1"/>
          <p:nvPr/>
        </p:nvSpPr>
        <p:spPr>
          <a:xfrm>
            <a:off x="418991" y="2954688"/>
            <a:ext cx="5258068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6400" b="1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THANK YOU!</a:t>
            </a:r>
            <a:endParaRPr sz="1200"/>
          </a:p>
        </p:txBody>
      </p:sp>
      <p:sp>
        <p:nvSpPr>
          <p:cNvPr id="502" name="Google Shape;502;p35"/>
          <p:cNvSpPr txBox="1"/>
          <p:nvPr/>
        </p:nvSpPr>
        <p:spPr>
          <a:xfrm>
            <a:off x="442152" y="3764784"/>
            <a:ext cx="5258068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We will be taking questions at </a:t>
            </a:r>
            <a:r>
              <a:rPr lang="en-US" sz="14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this time.</a:t>
            </a:r>
            <a:endParaRPr sz="1200" dirty="0"/>
          </a:p>
        </p:txBody>
      </p:sp>
    </p:spTree>
  </p:cSld>
  <p:clrMapOvr>
    <a:masterClrMapping/>
  </p:clrMapOvr>
  <p:transition>
    <p:push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326</TotalTime>
  <Words>516</Words>
  <Application>Microsoft Office PowerPoint</Application>
  <PresentationFormat>Widescreen</PresentationFormat>
  <Paragraphs>70</Paragraphs>
  <Slides>21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Calibri</vt:lpstr>
      <vt:lpstr>DM Sans</vt:lpstr>
      <vt:lpstr>Clarity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Classification Threshold- Recall</vt:lpstr>
      <vt:lpstr>Confusion Matrix</vt:lpstr>
      <vt:lpstr>Precision Recall-Area Under Curve</vt:lpstr>
      <vt:lpstr>PowerPoint Presentation</vt:lpstr>
      <vt:lpstr>Top 10 Important Features</vt:lpstr>
      <vt:lpstr>Top 10 Important Features</vt:lpstr>
      <vt:lpstr>SHAP Bar Plots </vt:lpstr>
      <vt:lpstr>SHAP Beeswarm</vt:lpstr>
      <vt:lpstr>SHAP Beeswarm – True Positive</vt:lpstr>
      <vt:lpstr>SHAP Beeswarm – False Negative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 T</dc:creator>
  <cp:lastModifiedBy>A T</cp:lastModifiedBy>
  <cp:revision>35</cp:revision>
  <dcterms:created xsi:type="dcterms:W3CDTF">2026-03-05T16:05:05Z</dcterms:created>
  <dcterms:modified xsi:type="dcterms:W3CDTF">2026-03-06T20:45:42Z</dcterms:modified>
</cp:coreProperties>
</file>