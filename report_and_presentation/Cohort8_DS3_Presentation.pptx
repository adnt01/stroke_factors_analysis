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79" r:id="rId2"/>
    <p:sldId id="266" r:id="rId3"/>
    <p:sldId id="283" r:id="rId4"/>
    <p:sldId id="284" r:id="rId5"/>
    <p:sldId id="280" r:id="rId6"/>
    <p:sldId id="282" r:id="rId7"/>
    <p:sldId id="285" r:id="rId8"/>
    <p:sldId id="286" r:id="rId9"/>
    <p:sldId id="287" r:id="rId10"/>
    <p:sldId id="265" r:id="rId11"/>
    <p:sldId id="267" r:id="rId12"/>
    <p:sldId id="270" r:id="rId13"/>
    <p:sldId id="288" r:id="rId14"/>
    <p:sldId id="268" r:id="rId15"/>
    <p:sldId id="269" r:id="rId16"/>
    <p:sldId id="256" r:id="rId17"/>
    <p:sldId id="257" r:id="rId18"/>
    <p:sldId id="276" r:id="rId19"/>
    <p:sldId id="278" r:id="rId20"/>
    <p:sldId id="289" r:id="rId21"/>
    <p:sldId id="29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8" autoAdjust="0"/>
    <p:restoredTop sz="94660"/>
  </p:normalViewPr>
  <p:slideViewPr>
    <p:cSldViewPr snapToGrid="0">
      <p:cViewPr varScale="1">
        <p:scale>
          <a:sx n="73" d="100"/>
          <a:sy n="73" d="100"/>
        </p:scale>
        <p:origin x="28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8D9752-18F5-491D-A8FE-927E5AB031AE}" type="datetimeFigureOut">
              <a:rPr lang="en-CA" smtClean="0"/>
              <a:t>2026-03-05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2D4E7-790C-4BF0-9AE4-9CFCBBC847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6718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92943E5C-15F6-54E9-B745-B30B17AAB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43D16254-6F56-28A8-E72D-69E13CA5F9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6A221F69-FA65-4CC9-B4D5-4663971F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89004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625C88B-0CD5-071E-5A5D-4FD1A109A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CCF85C62-40C2-6C91-8D76-2C9527F362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718AB5F9-5C7D-9CC8-388A-8B7D10AEF1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328801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31ADCA6-ED41-89E8-8C5D-A7C0A46EC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>
            <a:extLst>
              <a:ext uri="{FF2B5EF4-FFF2-40B4-BE49-F238E27FC236}">
                <a16:creationId xmlns:a16="http://schemas.microsoft.com/office/drawing/2014/main" id="{76B5FB3A-981F-7241-F06A-19C82D27A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>
            <a:extLst>
              <a:ext uri="{FF2B5EF4-FFF2-40B4-BE49-F238E27FC236}">
                <a16:creationId xmlns:a16="http://schemas.microsoft.com/office/drawing/2014/main" id="{15698202-36E2-7700-F89A-43A791D1B1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32042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E976981-14AE-3DC3-9973-EF0F0CADC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>
            <a:extLst>
              <a:ext uri="{FF2B5EF4-FFF2-40B4-BE49-F238E27FC236}">
                <a16:creationId xmlns:a16="http://schemas.microsoft.com/office/drawing/2014/main" id="{FA607C5C-DCD1-5349-A7DF-6FC75E5ED5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>
            <a:extLst>
              <a:ext uri="{FF2B5EF4-FFF2-40B4-BE49-F238E27FC236}">
                <a16:creationId xmlns:a16="http://schemas.microsoft.com/office/drawing/2014/main" id="{1C481F5B-62F5-FF71-90D8-F8B7AC3FE4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21943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91CAB47-D3CB-8D12-095A-517DD5602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12DFE4D8-9CD7-C8F2-B8DA-9C7304EF86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2E3771D8-16F3-1D78-85D9-6F890316EC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1801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30E5B0FF-7F6A-5BBA-FD84-E67D98E0C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58156EA9-AE74-DAA2-37EE-FD21A1D01A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4D6DA1AF-9CBF-94BE-DAF7-11CC472703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6792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0B5CE19B-28C4-4D25-EB9B-439810A64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73B21E0F-8B08-FC1B-D07F-7E6E023217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243BF204-1B95-C87B-6715-B2949BED2E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47001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CDF1C-718C-94AC-3A27-2D2A681119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598FAA-380F-304E-5046-2E349C3EAD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4701A-5B37-2E3F-CDFE-7D2D897C9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EA0E1-DC03-56A0-7C53-7D1D38B21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62E86-B622-9BE3-1F5E-775DCE85D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4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DE831-42DE-D5A0-EE5A-124E5063C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34C4-7F64-2899-1889-240D1474F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8D1E8-17A6-50EE-05C6-2370BBDB3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47504-AD6B-2C3C-8376-AF67EC184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1C33E-E26C-4FCD-AA6E-3BBD7E789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816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2302-8B14-264E-BDFD-379DDF327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C19065-1492-9FF2-00DC-BC71C01B1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15107-7184-ABED-40BD-0C23889F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32CF1-6FD9-ABD0-8161-42F3F38B4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2E57D-D5C8-FA06-078B-87F7378DD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513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8D81-3BFD-9602-34C1-5DB439F5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33672-F167-D0E5-B435-BC2CF3DD6E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651D0F-938F-86A2-846F-863F9152AD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78AB40-5035-2C42-947B-D7E0736F1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EF934F-82A6-CD41-2146-68D7211C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46D295-CE35-1495-1D63-B66E67BB2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902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14EED-9176-B156-C480-F6CF22217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F3364-366E-533C-B24A-48DD7AB90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008853-9D88-A322-9F13-153EE67852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793E3-A113-1215-1CF5-606FF6C625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6B7144-A25E-832B-CDDB-FAA2639709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C9EFC8-12C3-B521-C859-A4A81E4D8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C09AA6-13F6-108D-7E74-E6CF8D191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B0EBED-BC82-0D78-CB82-FEC46DCE0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876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DFFF4-E746-9BD4-290C-B04FF02DF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F26024-AC9A-311A-F4A1-BA36F57E3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0AAC82-375A-659C-9086-406E18D91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A367FF-771B-1F4A-0E35-D33BEEB8A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8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F6561-20CB-CA62-E2F9-0660D934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4BD4E5-1BDD-285C-D908-34E71D3DF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75B67-6335-71E6-1ADB-FF328CA2D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218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42E3-35E2-7EFE-165C-7A93F3CB0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A07B2-5002-DEED-489F-FD9E075E0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E601A1-8443-DFED-8700-923322631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3610FF-36F0-7F1F-86F4-1A8AC53C6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D477D-EBEC-8139-C42E-AD488FD02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3470-E8FA-9920-FF29-D08C3CB3D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42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DE163-4A36-3265-8AA6-35C02F60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D945DE-DB7E-71BE-EFF2-1E2F90C38E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05DAA4-684C-9441-BB11-778CCB9126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1BB1E-258B-7FE5-B5C8-89AAAD00E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20D976-AAA8-DBCA-B0A4-DD258D654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740993-0E96-D12A-694A-0778B560D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582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3DE49-7DF7-6063-6C71-5B0F9B7B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0619B4-EB80-298E-82CD-A02A601D6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1C2DC-0EE7-42C0-9ACC-702D7D067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ECCC8-A7C8-E8A8-41A5-0F12D6B1C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A586E0-F511-1383-4EF9-E19571FB9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78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82CD87-0B2B-444E-393F-21F3551D41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66851B-7CA1-1F54-4B83-CFF8E1DFEA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79A2C-3863-F54E-F475-C7938E619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26251F-14CD-B74A-EC7F-94B48D33F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9DAFB0-5ADA-535B-0050-632995D6B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339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075477-E04C-F07F-86B8-977C7753D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1A5CCC-6E5F-4E77-3245-330828A75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0385D5-D424-161E-5CA3-8965288504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75974-0F76-E645-DAB7-BF1217A056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A383BC-75C6-4411-4471-5A9766C750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496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cxnSp>
        <p:nvCxnSpPr>
          <p:cNvPr id="86" name="Google Shape;86;p13"/>
          <p:cNvCxnSpPr/>
          <p:nvPr/>
        </p:nvCxnSpPr>
        <p:spPr>
          <a:xfrm rot="10800000">
            <a:off x="375613" y="-30032"/>
            <a:ext cx="0" cy="691806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7" name="Google Shape;87;p13"/>
          <p:cNvCxnSpPr/>
          <p:nvPr/>
        </p:nvCxnSpPr>
        <p:spPr>
          <a:xfrm rot="10800000">
            <a:off x="11816387" y="369264"/>
            <a:ext cx="0" cy="64984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8" name="Google Shape;88;p13"/>
          <p:cNvCxnSpPr/>
          <p:nvPr/>
        </p:nvCxnSpPr>
        <p:spPr>
          <a:xfrm rot="10800000">
            <a:off x="377794" y="375613"/>
            <a:ext cx="11431574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89" name="Google Shape;89;p13"/>
          <p:cNvGrpSpPr/>
          <p:nvPr/>
        </p:nvGrpSpPr>
        <p:grpSpPr>
          <a:xfrm>
            <a:off x="865353" y="5986222"/>
            <a:ext cx="6009219" cy="2177948"/>
            <a:chOff x="0" y="-47625"/>
            <a:chExt cx="2374012" cy="860425"/>
          </a:xfrm>
        </p:grpSpPr>
        <p:sp>
          <p:nvSpPr>
            <p:cNvPr id="90" name="Google Shape;90;p13"/>
            <p:cNvSpPr/>
            <p:nvPr/>
          </p:nvSpPr>
          <p:spPr>
            <a:xfrm>
              <a:off x="0" y="0"/>
              <a:ext cx="2374012" cy="145882"/>
            </a:xfrm>
            <a:custGeom>
              <a:avLst/>
              <a:gdLst/>
              <a:ahLst/>
              <a:cxnLst/>
              <a:rect l="l" t="t" r="r" b="b"/>
              <a:pathLst>
                <a:path w="2374012" h="145882" extrusionOk="0">
                  <a:moveTo>
                    <a:pt x="0" y="0"/>
                  </a:moveTo>
                  <a:lnTo>
                    <a:pt x="2374012" y="0"/>
                  </a:lnTo>
                  <a:lnTo>
                    <a:pt x="2374012" y="145882"/>
                  </a:lnTo>
                  <a:lnTo>
                    <a:pt x="0" y="14588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en-CA" sz="1200"/>
            </a:p>
          </p:txBody>
        </p:sp>
        <p:sp>
          <p:nvSpPr>
            <p:cNvPr id="91" name="Google Shape;91;p13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algn="ctr">
                <a:lnSpc>
                  <a:spcPct val="186611"/>
                </a:lnSpc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92" name="Google Shape;92;p13"/>
          <p:cNvCxnSpPr/>
          <p:nvPr/>
        </p:nvCxnSpPr>
        <p:spPr>
          <a:xfrm rot="10800000">
            <a:off x="7351611" y="-72764"/>
            <a:ext cx="0" cy="691806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3" name="Google Shape;93;p13"/>
          <p:cNvCxnSpPr/>
          <p:nvPr/>
        </p:nvCxnSpPr>
        <p:spPr>
          <a:xfrm rot="10800000">
            <a:off x="2694577" y="-56021"/>
            <a:ext cx="0" cy="43798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4" name="Google Shape;94;p13"/>
          <p:cNvCxnSpPr/>
          <p:nvPr/>
        </p:nvCxnSpPr>
        <p:spPr>
          <a:xfrm rot="10800000">
            <a:off x="5019947" y="-56021"/>
            <a:ext cx="0" cy="43798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95" name="Google Shape;95;p13"/>
          <p:cNvGrpSpPr/>
          <p:nvPr/>
        </p:nvGrpSpPr>
        <p:grpSpPr>
          <a:xfrm>
            <a:off x="1304235" y="925994"/>
            <a:ext cx="5226363" cy="4985980"/>
            <a:chOff x="-457224" y="-6320771"/>
            <a:chExt cx="10452727" cy="9971960"/>
          </a:xfrm>
        </p:grpSpPr>
        <p:sp>
          <p:nvSpPr>
            <p:cNvPr id="96" name="Google Shape;96;p13"/>
            <p:cNvSpPr txBox="1"/>
            <p:nvPr/>
          </p:nvSpPr>
          <p:spPr>
            <a:xfrm>
              <a:off x="-457224" y="-6320771"/>
              <a:ext cx="10452727" cy="598317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81000"/>
                </a:lnSpc>
              </a:pPr>
              <a:r>
                <a:rPr lang="en-US" sz="8000" b="1" dirty="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STROKE FACTOR</a:t>
              </a:r>
            </a:p>
            <a:p>
              <a:pPr algn="ctr">
                <a:lnSpc>
                  <a:spcPct val="81000"/>
                </a:lnSpc>
              </a:pPr>
              <a:r>
                <a:rPr lang="en-US" sz="8000" b="1" dirty="0">
                  <a:solidFill>
                    <a:srgbClr val="000000"/>
                  </a:solidFill>
                  <a:latin typeface="DM Sans"/>
                  <a:sym typeface="DM Sans"/>
                </a:rPr>
                <a:t>ANALYSIS:</a:t>
              </a:r>
              <a:endParaRPr sz="1200" dirty="0"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189816" y="-337595"/>
              <a:ext cx="9158643" cy="398878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81000"/>
                </a:lnSpc>
              </a:pPr>
              <a:r>
                <a:rPr lang="en-US" sz="4000" b="1" dirty="0">
                  <a:solidFill>
                    <a:srgbClr val="000000"/>
                  </a:solidFill>
                  <a:latin typeface="DM Sans"/>
                  <a:sym typeface="DM Sans"/>
                </a:rPr>
                <a:t>How to address the long-term prevention of stroke risk factors</a:t>
              </a:r>
              <a:endParaRPr sz="4000" dirty="0"/>
            </a:p>
          </p:txBody>
        </p:sp>
      </p:grpSp>
      <p:sp>
        <p:nvSpPr>
          <p:cNvPr id="98" name="Google Shape;98;p13"/>
          <p:cNvSpPr txBox="1"/>
          <p:nvPr/>
        </p:nvSpPr>
        <p:spPr>
          <a:xfrm>
            <a:off x="999302" y="6153610"/>
            <a:ext cx="287066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Cohort 8 – DS3</a:t>
            </a:r>
            <a:endParaRPr sz="1200" dirty="0"/>
          </a:p>
        </p:txBody>
      </p:sp>
      <p:sp>
        <p:nvSpPr>
          <p:cNvPr id="99" name="Google Shape;99;p13"/>
          <p:cNvSpPr txBox="1"/>
          <p:nvPr/>
        </p:nvSpPr>
        <p:spPr>
          <a:xfrm>
            <a:off x="3869963" y="6153610"/>
            <a:ext cx="287066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07/17/2023</a:t>
            </a:r>
            <a:endParaRPr sz="1200" dirty="0"/>
          </a:p>
        </p:txBody>
      </p:sp>
      <p:pic>
        <p:nvPicPr>
          <p:cNvPr id="1026" name="Picture 2" descr="Image 1: Prevalence of Smoking">
            <a:extLst>
              <a:ext uri="{FF2B5EF4-FFF2-40B4-BE49-F238E27FC236}">
                <a16:creationId xmlns:a16="http://schemas.microsoft.com/office/drawing/2014/main" id="{51C2035A-3C2D-08EF-E29B-CE2A9B12D1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5163" y="1168929"/>
            <a:ext cx="4405305" cy="4743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3"/>
          <p:cNvSpPr/>
          <p:nvPr/>
        </p:nvSpPr>
        <p:spPr>
          <a:xfrm>
            <a:off x="1270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cxnSp>
        <p:nvCxnSpPr>
          <p:cNvPr id="277" name="Google Shape;277;p23"/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/>
          <p:cNvSpPr txBox="1"/>
          <p:nvPr/>
        </p:nvSpPr>
        <p:spPr>
          <a:xfrm>
            <a:off x="616400" y="1994640"/>
            <a:ext cx="4863200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Team Members</a:t>
            </a:r>
            <a:endParaRPr sz="1200" dirty="0"/>
          </a:p>
        </p:txBody>
      </p:sp>
      <p:sp>
        <p:nvSpPr>
          <p:cNvPr id="279" name="Google Shape;279;p23"/>
          <p:cNvSpPr txBox="1"/>
          <p:nvPr/>
        </p:nvSpPr>
        <p:spPr>
          <a:xfrm>
            <a:off x="6794275" y="1502197"/>
            <a:ext cx="4712149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Adnan Takash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Aravind Vijayaragavan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Azadeh </a:t>
            </a:r>
            <a:r>
              <a:rPr lang="en-US" sz="3200" dirty="0" err="1"/>
              <a:t>Selahvarzi</a:t>
            </a:r>
            <a:endParaRPr lang="en-US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Karen Huang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Naveen Kumar Nair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Yuli Zhang</a:t>
            </a:r>
          </a:p>
        </p:txBody>
      </p:sp>
    </p:spTree>
  </p:cSld>
  <p:clrMapOvr>
    <a:masterClrMapping/>
  </p:clrMapOvr>
  <p:transition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8B31EF99-0A3C-FDBB-32CF-EA2C40AA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9084A8E1-AE92-B297-C212-E365FD940E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cxnSp>
        <p:nvCxnSpPr>
          <p:cNvPr id="277" name="Google Shape;277;p23">
            <a:extLst>
              <a:ext uri="{FF2B5EF4-FFF2-40B4-BE49-F238E27FC236}">
                <a16:creationId xmlns:a16="http://schemas.microsoft.com/office/drawing/2014/main" id="{E661C1E4-5989-5FA8-4811-B16E25889FC8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D1BB4620-696B-D377-D1DF-6F1382F0C288}"/>
              </a:ext>
            </a:extLst>
          </p:cNvPr>
          <p:cNvSpPr txBox="1"/>
          <p:nvPr/>
        </p:nvSpPr>
        <p:spPr>
          <a:xfrm>
            <a:off x="6800625" y="2194107"/>
            <a:ext cx="4863200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Business Case</a:t>
            </a:r>
            <a:endParaRPr sz="1200" dirty="0"/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0AF21EBD-1FDC-2D2F-FBB8-D370362333AC}"/>
              </a:ext>
            </a:extLst>
          </p:cNvPr>
          <p:cNvSpPr txBox="1"/>
          <p:nvPr/>
        </p:nvSpPr>
        <p:spPr>
          <a:xfrm>
            <a:off x="691925" y="1701665"/>
            <a:ext cx="4712149" cy="3447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The top 3 predictors of having a stroke – is it lifestyle-based or health-based?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3200" dirty="0"/>
              <a:t>Proactive healthcare management, not just reactive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083323049"/>
      </p:ext>
    </p:extLst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D4A00AE-F70E-A67D-EE6C-29747D2A7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FDC24C37-5412-3425-6EBF-06001CBFCD38}"/>
              </a:ext>
            </a:extLst>
          </p:cNvPr>
          <p:cNvSpPr/>
          <p:nvPr/>
        </p:nvSpPr>
        <p:spPr>
          <a:xfrm>
            <a:off x="1270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cxnSp>
        <p:nvCxnSpPr>
          <p:cNvPr id="277" name="Google Shape;277;p23">
            <a:extLst>
              <a:ext uri="{FF2B5EF4-FFF2-40B4-BE49-F238E27FC236}">
                <a16:creationId xmlns:a16="http://schemas.microsoft.com/office/drawing/2014/main" id="{37309AEC-C836-C399-E326-96706B9353D1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77666A4E-4AA7-EAA8-DF4A-F79A41980A60}"/>
              </a:ext>
            </a:extLst>
          </p:cNvPr>
          <p:cNvSpPr txBox="1"/>
          <p:nvPr/>
        </p:nvSpPr>
        <p:spPr>
          <a:xfrm>
            <a:off x="616400" y="1994640"/>
            <a:ext cx="4863200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The Problem to Tackle</a:t>
            </a:r>
            <a:endParaRPr sz="1200" dirty="0"/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329D24F8-4AA8-BDBB-D1C3-A436C5632866}"/>
              </a:ext>
            </a:extLst>
          </p:cNvPr>
          <p:cNvSpPr txBox="1"/>
          <p:nvPr/>
        </p:nvSpPr>
        <p:spPr>
          <a:xfrm>
            <a:off x="6794275" y="1502197"/>
            <a:ext cx="4712149" cy="3877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/>
              <a:t>Stroke is the 3rd leading cause of disability and mortality worldwide with an estimated 93.8 million cases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/>
              <a:t>Costly for patients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800" dirty="0"/>
              <a:t>Reactive treatments far more expensive than proactive ones</a:t>
            </a:r>
          </a:p>
        </p:txBody>
      </p:sp>
    </p:spTree>
    <p:extLst>
      <p:ext uri="{BB962C8B-B14F-4D97-AF65-F5344CB8AC3E}">
        <p14:creationId xmlns:p14="http://schemas.microsoft.com/office/powerpoint/2010/main" val="1486509860"/>
      </p:ext>
    </p:extLst>
  </p:cSld>
  <p:clrMapOvr>
    <a:masterClrMapping/>
  </p:clrMapOvr>
  <p:transition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 dirty="0"/>
          </a:p>
        </p:txBody>
      </p:sp>
      <p:cxnSp>
        <p:nvCxnSpPr>
          <p:cNvPr id="266" name="Google Shape;266;p22"/>
          <p:cNvCxnSpPr/>
          <p:nvPr/>
        </p:nvCxnSpPr>
        <p:spPr>
          <a:xfrm rot="10800000">
            <a:off x="-63217" y="3422650"/>
            <a:ext cx="12293931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7" name="Google Shape;267;p22"/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8" name="Google Shape;268;p22"/>
          <p:cNvSpPr txBox="1"/>
          <p:nvPr/>
        </p:nvSpPr>
        <p:spPr>
          <a:xfrm>
            <a:off x="610277" y="585856"/>
            <a:ext cx="4863193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600" dirty="0"/>
              <a:t>Stroke Class Distribution</a:t>
            </a:r>
            <a:endParaRPr sz="1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A07D56-E8C5-9FF7-C661-6D8888A990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211" y="3573829"/>
            <a:ext cx="3999323" cy="31374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85F488-7E4C-8F44-ED85-A8704FF7952D}"/>
              </a:ext>
            </a:extLst>
          </p:cNvPr>
          <p:cNvSpPr txBox="1"/>
          <p:nvPr/>
        </p:nvSpPr>
        <p:spPr>
          <a:xfrm>
            <a:off x="7957786" y="4540161"/>
            <a:ext cx="2725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Percentage distribution: Class	      	      % </a:t>
            </a:r>
          </a:p>
          <a:p>
            <a:r>
              <a:rPr lang="en-US" dirty="0"/>
              <a:t>0 (No stroke)	 95.13</a:t>
            </a:r>
          </a:p>
          <a:p>
            <a:r>
              <a:rPr lang="en-US" dirty="0"/>
              <a:t>1 (Stroke)	 4.87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90DB31-32DA-7922-B217-9A1505A0685E}"/>
              </a:ext>
            </a:extLst>
          </p:cNvPr>
          <p:cNvSpPr txBox="1"/>
          <p:nvPr/>
        </p:nvSpPr>
        <p:spPr>
          <a:xfrm>
            <a:off x="6874212" y="1117510"/>
            <a:ext cx="4695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/>
              <a:t>The dataset is highly imbalanced (5% positive class)</a:t>
            </a:r>
          </a:p>
        </p:txBody>
      </p:sp>
    </p:spTree>
  </p:cSld>
  <p:clrMapOvr>
    <a:masterClrMapping/>
  </p:clrMapOvr>
  <p:transition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cxnSp>
        <p:nvCxnSpPr>
          <p:cNvPr id="277" name="Google Shape;277;p23"/>
          <p:cNvCxnSpPr/>
          <p:nvPr/>
        </p:nvCxnSpPr>
        <p:spPr>
          <a:xfrm rot="10800000">
            <a:off x="8034163" y="-10202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/>
          <p:cNvSpPr txBox="1"/>
          <p:nvPr/>
        </p:nvSpPr>
        <p:spPr>
          <a:xfrm>
            <a:off x="7514014" y="977462"/>
            <a:ext cx="5161461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4000" b="1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Normalized</a:t>
            </a:r>
          </a:p>
          <a:p>
            <a:pPr algn="ctr"/>
            <a:r>
              <a:rPr lang="en-US" sz="4000" b="1" dirty="0">
                <a:solidFill>
                  <a:srgbClr val="000000"/>
                </a:solidFill>
                <a:latin typeface="DM Sans"/>
                <a:sym typeface="DM Sans"/>
              </a:rPr>
              <a:t>Box Plot</a:t>
            </a:r>
            <a:endParaRPr sz="4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013F98F-F016-44BD-F010-15306E3E37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1" y="1430141"/>
            <a:ext cx="7351082" cy="397873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96EB63-2418-7F70-8C36-AF98EA97CC75}"/>
              </a:ext>
            </a:extLst>
          </p:cNvPr>
          <p:cNvSpPr txBox="1"/>
          <p:nvPr/>
        </p:nvSpPr>
        <p:spPr>
          <a:xfrm>
            <a:off x="8555421" y="3037490"/>
            <a:ext cx="293851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Note how age is largely devoid of outliers, but glucose and BMI are not</a:t>
            </a:r>
          </a:p>
          <a:p>
            <a:pPr marL="285750" indent="-285750">
              <a:buFontTx/>
              <a:buChar char="-"/>
            </a:pPr>
            <a:r>
              <a:rPr lang="en-CA" dirty="0"/>
              <a:t>How does age affect these factors, and how resilient they are?</a:t>
            </a:r>
          </a:p>
        </p:txBody>
      </p:sp>
    </p:spTree>
  </p:cSld>
  <p:clrMapOvr>
    <a:masterClrMapping/>
  </p:clrMapOvr>
  <p:transition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947DD4A1-7A93-C10E-5A07-4EC5C6816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2">
            <a:extLst>
              <a:ext uri="{FF2B5EF4-FFF2-40B4-BE49-F238E27FC236}">
                <a16:creationId xmlns:a16="http://schemas.microsoft.com/office/drawing/2014/main" id="{EBFD45E9-ADE4-AC8A-B210-9D09ADFCCFD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 dirty="0"/>
          </a:p>
        </p:txBody>
      </p:sp>
      <p:cxnSp>
        <p:nvCxnSpPr>
          <p:cNvPr id="266" name="Google Shape;266;p22">
            <a:extLst>
              <a:ext uri="{FF2B5EF4-FFF2-40B4-BE49-F238E27FC236}">
                <a16:creationId xmlns:a16="http://schemas.microsoft.com/office/drawing/2014/main" id="{4720075E-3549-58CE-84BB-F4BF021C35F2}"/>
              </a:ext>
            </a:extLst>
          </p:cNvPr>
          <p:cNvCxnSpPr/>
          <p:nvPr/>
        </p:nvCxnSpPr>
        <p:spPr>
          <a:xfrm rot="10800000">
            <a:off x="-63217" y="3422650"/>
            <a:ext cx="12293931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7" name="Google Shape;267;p22">
            <a:extLst>
              <a:ext uri="{FF2B5EF4-FFF2-40B4-BE49-F238E27FC236}">
                <a16:creationId xmlns:a16="http://schemas.microsoft.com/office/drawing/2014/main" id="{60A48628-491D-52BC-6A6C-51D0ABB32F30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2C79D34E-94D8-D801-ABDE-B73F1E41CFCB}"/>
              </a:ext>
            </a:extLst>
          </p:cNvPr>
          <p:cNvSpPr txBox="1"/>
          <p:nvPr/>
        </p:nvSpPr>
        <p:spPr>
          <a:xfrm>
            <a:off x="610277" y="585856"/>
            <a:ext cx="4863193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600" dirty="0"/>
              <a:t>Bar Plot by Class</a:t>
            </a:r>
            <a:endParaRPr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F19372-0553-7137-2291-67799FF3C0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323" y="3809474"/>
            <a:ext cx="3437272" cy="2543969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D48C9-B9D9-3D2B-9218-FC264F29C9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60" y="3809474"/>
            <a:ext cx="3626836" cy="2639530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9634D9-7FC0-117B-8A62-3B88358535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60" y="272124"/>
            <a:ext cx="3653295" cy="2658787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137934500"/>
      </p:ext>
    </p:extLst>
  </p:cSld>
  <p:clrMapOvr>
    <a:masterClrMapping/>
  </p:clrMapOvr>
  <p:transition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1683D3BF-B4ED-42E6-86A6-2A1EAF00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2">
            <a:extLst>
              <a:ext uri="{FF2B5EF4-FFF2-40B4-BE49-F238E27FC236}">
                <a16:creationId xmlns:a16="http://schemas.microsoft.com/office/drawing/2014/main" id="{47F06743-0682-79DA-65F4-CB71B094E10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 dirty="0"/>
          </a:p>
        </p:txBody>
      </p:sp>
      <p:cxnSp>
        <p:nvCxnSpPr>
          <p:cNvPr id="266" name="Google Shape;266;p22">
            <a:extLst>
              <a:ext uri="{FF2B5EF4-FFF2-40B4-BE49-F238E27FC236}">
                <a16:creationId xmlns:a16="http://schemas.microsoft.com/office/drawing/2014/main" id="{6C4CB194-3F99-F963-06DC-A6BAC75D6959}"/>
              </a:ext>
            </a:extLst>
          </p:cNvPr>
          <p:cNvCxnSpPr/>
          <p:nvPr/>
        </p:nvCxnSpPr>
        <p:spPr>
          <a:xfrm rot="10800000">
            <a:off x="-274340" y="1619976"/>
            <a:ext cx="12293931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7" name="Google Shape;267;p22">
            <a:extLst>
              <a:ext uri="{FF2B5EF4-FFF2-40B4-BE49-F238E27FC236}">
                <a16:creationId xmlns:a16="http://schemas.microsoft.com/office/drawing/2014/main" id="{BAA337C0-DD81-20FF-0DC1-703222A2DE86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36797858-C2D6-AD12-CC43-19AC586EB4A4}"/>
              </a:ext>
            </a:extLst>
          </p:cNvPr>
          <p:cNvSpPr txBox="1"/>
          <p:nvPr/>
        </p:nvSpPr>
        <p:spPr>
          <a:xfrm>
            <a:off x="616403" y="215328"/>
            <a:ext cx="4863193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4000" dirty="0"/>
              <a:t>Correlation</a:t>
            </a:r>
          </a:p>
          <a:p>
            <a:pPr algn="ctr"/>
            <a:r>
              <a:rPr lang="en-US" sz="4000" dirty="0"/>
              <a:t>Plots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E9E19C-C61E-9265-7C44-B705FBED99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88" y="1888443"/>
            <a:ext cx="5013908" cy="4354004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7FEBCD-AFA2-ADAD-BFA3-A9AACDD095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103" y="1888443"/>
            <a:ext cx="5013908" cy="4354004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31FBEF-70B0-2A0D-07F3-5A0102AC4CDC}"/>
              </a:ext>
            </a:extLst>
          </p:cNvPr>
          <p:cNvSpPr txBox="1"/>
          <p:nvPr/>
        </p:nvSpPr>
        <p:spPr>
          <a:xfrm>
            <a:off x="6725103" y="215328"/>
            <a:ext cx="485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Spearman (nonlinear) vs Pearson (linear)</a:t>
            </a:r>
          </a:p>
          <a:p>
            <a:pPr marL="285750" indent="-285750">
              <a:buFontTx/>
              <a:buChar char="-"/>
            </a:pPr>
            <a:r>
              <a:rPr lang="en-CA" dirty="0"/>
              <a:t>Does this suggest non-linear relations between comorbid health factors?</a:t>
            </a:r>
          </a:p>
        </p:txBody>
      </p:sp>
    </p:spTree>
    <p:extLst>
      <p:ext uri="{BB962C8B-B14F-4D97-AF65-F5344CB8AC3E}">
        <p14:creationId xmlns:p14="http://schemas.microsoft.com/office/powerpoint/2010/main" val="587567508"/>
      </p:ext>
    </p:extLst>
  </p:cSld>
  <p:clrMapOvr>
    <a:masterClrMapping/>
  </p:clrMapOvr>
  <p:transition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D4560813-2923-7F73-656A-6594E575D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D7BB96CD-9DEB-E7E6-42D7-3F1D4400D5E1}"/>
              </a:ext>
            </a:extLst>
          </p:cNvPr>
          <p:cNvSpPr/>
          <p:nvPr/>
        </p:nvSpPr>
        <p:spPr>
          <a:xfrm>
            <a:off x="1270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cxnSp>
        <p:nvCxnSpPr>
          <p:cNvPr id="277" name="Google Shape;277;p23">
            <a:extLst>
              <a:ext uri="{FF2B5EF4-FFF2-40B4-BE49-F238E27FC236}">
                <a16:creationId xmlns:a16="http://schemas.microsoft.com/office/drawing/2014/main" id="{CF70B52E-A1F7-3BF5-3764-BF1C1FB04C02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CEC4A98B-F1A1-0DEB-A3FE-E6F2991CED65}"/>
              </a:ext>
            </a:extLst>
          </p:cNvPr>
          <p:cNvSpPr txBox="1"/>
          <p:nvPr/>
        </p:nvSpPr>
        <p:spPr>
          <a:xfrm>
            <a:off x="240527" y="1963861"/>
            <a:ext cx="5627646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sym typeface="DM Sans"/>
              </a:rPr>
              <a:t>Classification Modelling Findings</a:t>
            </a:r>
            <a:endParaRPr sz="1200" dirty="0"/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80C2D2E7-712E-6CB3-00B2-3EA19C4F4F3F}"/>
              </a:ext>
            </a:extLst>
          </p:cNvPr>
          <p:cNvSpPr txBox="1"/>
          <p:nvPr/>
        </p:nvSpPr>
        <p:spPr>
          <a:xfrm>
            <a:off x="6794275" y="1502197"/>
            <a:ext cx="4712149" cy="4062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The dataset is highly imbalanced (5% positive class)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Tree-based models best for imbalanced data.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Logistic Regression performed well when using balanced class weights.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Therefore, three models were selected for the analysis: </a:t>
            </a:r>
            <a:r>
              <a:rPr lang="en-US" sz="2400" dirty="0" err="1"/>
              <a:t>XGBoost</a:t>
            </a:r>
            <a:r>
              <a:rPr lang="en-US" sz="2400" dirty="0"/>
              <a:t>, Random Forest, and Logistic Regression.</a:t>
            </a:r>
          </a:p>
        </p:txBody>
      </p:sp>
    </p:spTree>
    <p:extLst>
      <p:ext uri="{BB962C8B-B14F-4D97-AF65-F5344CB8AC3E}">
        <p14:creationId xmlns:p14="http://schemas.microsoft.com/office/powerpoint/2010/main" val="4218661914"/>
      </p:ext>
    </p:extLst>
  </p:cSld>
  <p:clrMapOvr>
    <a:masterClrMapping/>
  </p:clrMapOvr>
  <p:transition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10B9E-90C0-9670-DAA4-76A271EAE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Threshold- Recall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483A5E-4DDA-A3E0-EDFB-D0FF1AA4EAB5}"/>
              </a:ext>
            </a:extLst>
          </p:cNvPr>
          <p:cNvSpPr txBox="1"/>
          <p:nvPr/>
        </p:nvSpPr>
        <p:spPr>
          <a:xfrm>
            <a:off x="2190306" y="5635256"/>
            <a:ext cx="54395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Recall: 0.8</a:t>
            </a:r>
          </a:p>
          <a:p>
            <a:r>
              <a:rPr lang="en-US" dirty="0"/>
              <a:t>Random Forest: Threshold: 0.24, PR-AUC: 0.22</a:t>
            </a:r>
          </a:p>
          <a:p>
            <a:r>
              <a:rPr lang="en-US" dirty="0"/>
              <a:t>XG Boost:              Threshold: 0.51, PR-AUC: 0.26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5444B8-5D86-E68B-3EBA-EF948AAAA4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06" y="1690688"/>
            <a:ext cx="5486411" cy="359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75BDA9-A3D6-7D87-07BD-09F6863468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8517" y="1632200"/>
            <a:ext cx="5605283" cy="359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89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60DC-725D-68D9-A0E1-CA81CA68E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074982-224C-F718-2655-1ADD43392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52" y="1444429"/>
            <a:ext cx="4636017" cy="4160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EDA505-3CDA-18D8-27DB-EA9CCD764C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44429"/>
            <a:ext cx="4636017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675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9DFEB-0CA1-CB6C-4AFD-3BC259ED3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Precision Recall-Area Under Curve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4FECA0-84D6-8895-9DCD-7AAC0FE9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39853"/>
            <a:ext cx="4096520" cy="4160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E99F0D-6888-2FD5-992A-E287A9783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075" y="2039853"/>
            <a:ext cx="4096520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447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1C30281B-3760-2161-5794-B3B88C13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D86E0DFE-FDF5-158B-817A-893144D30C31}"/>
              </a:ext>
            </a:extLst>
          </p:cNvPr>
          <p:cNvSpPr/>
          <p:nvPr/>
        </p:nvSpPr>
        <p:spPr>
          <a:xfrm>
            <a:off x="1270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cxnSp>
        <p:nvCxnSpPr>
          <p:cNvPr id="277" name="Google Shape;277;p23">
            <a:extLst>
              <a:ext uri="{FF2B5EF4-FFF2-40B4-BE49-F238E27FC236}">
                <a16:creationId xmlns:a16="http://schemas.microsoft.com/office/drawing/2014/main" id="{AB0BA0EA-3DF6-19F9-C9DA-6139AA37C04B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BDC5E0E6-5A49-9DBF-73D2-BF8F66CA890E}"/>
              </a:ext>
            </a:extLst>
          </p:cNvPr>
          <p:cNvSpPr txBox="1"/>
          <p:nvPr/>
        </p:nvSpPr>
        <p:spPr>
          <a:xfrm>
            <a:off x="240527" y="1459230"/>
            <a:ext cx="5627646" cy="3939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sym typeface="DM Sans"/>
              </a:rPr>
              <a:t>Key Data</a:t>
            </a:r>
          </a:p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sym typeface="DM Sans"/>
              </a:rPr>
              <a:t>Findings</a:t>
            </a:r>
          </a:p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sym typeface="DM Sans"/>
              </a:rPr>
              <a:t>For Stakeholders</a:t>
            </a:r>
            <a:endParaRPr sz="1200" dirty="0"/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55D299CF-9DA6-DBEF-7627-FDF69A2D3F0C}"/>
              </a:ext>
            </a:extLst>
          </p:cNvPr>
          <p:cNvSpPr txBox="1"/>
          <p:nvPr/>
        </p:nvSpPr>
        <p:spPr>
          <a:xfrm>
            <a:off x="6794275" y="1502197"/>
            <a:ext cx="4712149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Blood Glucose, Old Age, High BMI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Different models weight age higher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Does age make BMI and Glucose harder to reduce?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What does this mean for our solution?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08245426"/>
      </p:ext>
    </p:extLst>
  </p:cSld>
  <p:clrMapOvr>
    <a:masterClrMapping/>
  </p:clrMapOvr>
  <p:transition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E5768-5196-E7B0-5832-1C34EADE2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Important Features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8ED54E-6A0F-3791-032C-7B6A9F60D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102" y="1280155"/>
            <a:ext cx="9637795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12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84273-F5F3-6139-2570-575B7D985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Important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207C6A-CBC3-B195-4FA4-064B4BCEDF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102" y="1280155"/>
            <a:ext cx="9637795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045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13E3048-8AB0-6339-1911-14C3BD8B35D9}"/>
              </a:ext>
            </a:extLst>
          </p:cNvPr>
          <p:cNvSpPr txBox="1"/>
          <p:nvPr/>
        </p:nvSpPr>
        <p:spPr>
          <a:xfrm>
            <a:off x="1195752" y="5569545"/>
            <a:ext cx="94354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SHAP bar plot highlights the variables that most strongly influence the model’s predictions, ranking them by their overall importance.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SHAP bar plot shows which variables are most important overall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5116E7-9696-4B20-3D8A-0031F5B89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6442" y="868362"/>
            <a:ext cx="7818944" cy="4634901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425BEFA8-7ED3-BA25-9651-0FE3544DB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>
            <a:normAutofit fontScale="90000"/>
          </a:bodyPr>
          <a:lstStyle/>
          <a:p>
            <a:r>
              <a:rPr lang="en-US" sz="4900" dirty="0"/>
              <a:t>Bar Plots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55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2A1B674-38BE-4390-2336-69EDE0FC8E51}"/>
              </a:ext>
            </a:extLst>
          </p:cNvPr>
          <p:cNvSpPr txBox="1">
            <a:spLocks/>
          </p:cNvSpPr>
          <p:nvPr/>
        </p:nvSpPr>
        <p:spPr>
          <a:xfrm>
            <a:off x="838200" y="49170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E56EF2-EB15-BDB8-F898-3303C9BB23AB}"/>
              </a:ext>
            </a:extLst>
          </p:cNvPr>
          <p:cNvSpPr txBox="1">
            <a:spLocks/>
          </p:cNvSpPr>
          <p:nvPr/>
        </p:nvSpPr>
        <p:spPr>
          <a:xfrm>
            <a:off x="979462" y="540575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/>
              <a:t>Beeswarm</a:t>
            </a:r>
            <a:r>
              <a:rPr lang="en-US" sz="2400" dirty="0"/>
              <a:t> plot shows how each feature influences model predictions for all observations.</a:t>
            </a:r>
          </a:p>
          <a:p>
            <a:r>
              <a:rPr lang="en-US" sz="2400" dirty="0"/>
              <a:t>Highlighting both feature importance and whether high or low values increase or decrease the prediction.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ED442E-E669-5E39-BCAF-17EC948309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0010" y="860490"/>
            <a:ext cx="8754504" cy="45452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E1CF65-26FA-FE28-1A72-ABF074E7E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 </a:t>
            </a:r>
            <a:r>
              <a:rPr lang="en-US" dirty="0" err="1"/>
              <a:t>Beeswarm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656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91AED-5067-823A-C7CB-1DA20B2C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SHAP </a:t>
            </a:r>
            <a:r>
              <a:rPr lang="en-US" sz="4000" dirty="0" err="1"/>
              <a:t>Beeswarm</a:t>
            </a:r>
            <a:r>
              <a:rPr lang="en-US" sz="4000" dirty="0"/>
              <a:t> – True Positive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8D01C5-4D40-835B-212D-C7A937F3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751" y="1804079"/>
            <a:ext cx="9030950" cy="468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5787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3FAAA-A097-0BF1-BF9D-904760525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FF90E-7972-2B4C-8068-BE58D8C65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SHAP </a:t>
            </a:r>
            <a:r>
              <a:rPr lang="en-US" sz="4000" dirty="0" err="1"/>
              <a:t>Beeswarm</a:t>
            </a:r>
            <a:r>
              <a:rPr lang="en-US" sz="4000" dirty="0"/>
              <a:t> – False Negative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1D4B84-3D01-1E10-2DB1-50CD84540A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222" y="1557452"/>
            <a:ext cx="9052578" cy="470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126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BE34003F-B0E4-9D99-7E7E-4FCB8AEC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A10F9309-2831-DD58-58AF-032CFFD9E8E5}"/>
              </a:ext>
            </a:extLst>
          </p:cNvPr>
          <p:cNvSpPr/>
          <p:nvPr/>
        </p:nvSpPr>
        <p:spPr>
          <a:xfrm>
            <a:off x="1270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cxnSp>
        <p:nvCxnSpPr>
          <p:cNvPr id="277" name="Google Shape;277;p23">
            <a:extLst>
              <a:ext uri="{FF2B5EF4-FFF2-40B4-BE49-F238E27FC236}">
                <a16:creationId xmlns:a16="http://schemas.microsoft.com/office/drawing/2014/main" id="{48FA03B2-BA79-B513-672B-F678ADE015B9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3E731076-B7A8-BFFC-339F-72BC223F4891}"/>
              </a:ext>
            </a:extLst>
          </p:cNvPr>
          <p:cNvSpPr txBox="1"/>
          <p:nvPr/>
        </p:nvSpPr>
        <p:spPr>
          <a:xfrm>
            <a:off x="240527" y="1459230"/>
            <a:ext cx="5627646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sym typeface="DM Sans"/>
              </a:rPr>
              <a:t>Solution to Business Case</a:t>
            </a:r>
            <a:endParaRPr lang="en-CA" sz="1200" dirty="0"/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00DCE89C-87BE-BCD7-0E48-058C585160B9}"/>
              </a:ext>
            </a:extLst>
          </p:cNvPr>
          <p:cNvSpPr txBox="1"/>
          <p:nvPr/>
        </p:nvSpPr>
        <p:spPr>
          <a:xfrm>
            <a:off x="6713539" y="701584"/>
            <a:ext cx="4712149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b="1" dirty="0"/>
              <a:t>HABIT-FORMING PROGRAM: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Focus on long-term good habit development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Set up a program with Apple Watch or Fitbit to track changes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Enter niche of fitness app programs, but specifically for stroke reduction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Apps make it easy for people without a primary healthcare provider to participate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59957635"/>
      </p:ext>
    </p:extLst>
  </p:cSld>
  <p:clrMapOvr>
    <a:masterClrMapping/>
  </p:clrMapOvr>
  <p:transition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5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pic>
        <p:nvPicPr>
          <p:cNvPr id="498" name="Google Shape;49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27632" y="682900"/>
            <a:ext cx="5222082" cy="548445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9" name="Google Shape;499;p35"/>
          <p:cNvCxnSpPr/>
          <p:nvPr/>
        </p:nvCxnSpPr>
        <p:spPr>
          <a:xfrm rot="10800000">
            <a:off x="6102350" y="-65298"/>
            <a:ext cx="0" cy="6955829"/>
          </a:xfrm>
          <a:prstGeom prst="straightConnector1">
            <a:avLst/>
          </a:prstGeom>
          <a:noFill/>
          <a:ln w="19050" cap="flat" cmpd="sng">
            <a:solidFill>
              <a:srgbClr val="FFFAF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0" name="Google Shape;500;p35"/>
          <p:cNvSpPr/>
          <p:nvPr/>
        </p:nvSpPr>
        <p:spPr>
          <a:xfrm>
            <a:off x="6527800" y="685800"/>
            <a:ext cx="5222048" cy="5486400"/>
          </a:xfrm>
          <a:custGeom>
            <a:avLst/>
            <a:gdLst/>
            <a:ahLst/>
            <a:cxnLst/>
            <a:rect l="l" t="t" r="r" b="b"/>
            <a:pathLst>
              <a:path w="2063031" h="2167467" extrusionOk="0">
                <a:moveTo>
                  <a:pt x="0" y="0"/>
                </a:moveTo>
                <a:lnTo>
                  <a:pt x="2063031" y="0"/>
                </a:lnTo>
                <a:lnTo>
                  <a:pt x="2063031" y="2167467"/>
                </a:lnTo>
                <a:lnTo>
                  <a:pt x="0" y="216746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flat" cmpd="sng">
            <a:solidFill>
              <a:srgbClr val="FFFAF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CA" sz="1200"/>
          </a:p>
        </p:txBody>
      </p:sp>
      <p:sp>
        <p:nvSpPr>
          <p:cNvPr id="501" name="Google Shape;501;p35"/>
          <p:cNvSpPr txBox="1"/>
          <p:nvPr/>
        </p:nvSpPr>
        <p:spPr>
          <a:xfrm>
            <a:off x="418991" y="2954688"/>
            <a:ext cx="5258068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THANK YOU!</a:t>
            </a:r>
            <a:endParaRPr sz="1200"/>
          </a:p>
        </p:txBody>
      </p:sp>
      <p:sp>
        <p:nvSpPr>
          <p:cNvPr id="502" name="Google Shape;502;p35"/>
          <p:cNvSpPr txBox="1"/>
          <p:nvPr/>
        </p:nvSpPr>
        <p:spPr>
          <a:xfrm>
            <a:off x="442152" y="3764784"/>
            <a:ext cx="5258068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We will be taking questions at </a:t>
            </a:r>
            <a:r>
              <a:rPr lang="en-US" sz="140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this time.</a:t>
            </a:r>
            <a:endParaRPr sz="1200" dirty="0"/>
          </a:p>
        </p:txBody>
      </p:sp>
    </p:spTree>
  </p:cSld>
  <p:clrMapOvr>
    <a:masterClrMapping/>
  </p:clrMapOvr>
  <p:transition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449</Words>
  <Application>Microsoft Office PowerPoint</Application>
  <PresentationFormat>Widescreen</PresentationFormat>
  <Paragraphs>69</Paragraphs>
  <Slides>21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DM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Classification Threshold- Recall</vt:lpstr>
      <vt:lpstr>Confusion Matrix</vt:lpstr>
      <vt:lpstr>Precision Recall-Area Under Curve</vt:lpstr>
      <vt:lpstr>PowerPoint Presentation</vt:lpstr>
      <vt:lpstr>Top 10 Important Features</vt:lpstr>
      <vt:lpstr>Top 10 Important Features</vt:lpstr>
      <vt:lpstr>Bar Plots </vt:lpstr>
      <vt:lpstr>SHAP Beeswarm</vt:lpstr>
      <vt:lpstr>SHAP Beeswarm – True Positive</vt:lpstr>
      <vt:lpstr>SHAP Beeswarm – False Negative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 T</dc:creator>
  <cp:lastModifiedBy>Aravind Vijayaragavan</cp:lastModifiedBy>
  <cp:revision>28</cp:revision>
  <dcterms:created xsi:type="dcterms:W3CDTF">2026-03-05T16:05:05Z</dcterms:created>
  <dcterms:modified xsi:type="dcterms:W3CDTF">2026-03-06T00:31:32Z</dcterms:modified>
</cp:coreProperties>
</file>