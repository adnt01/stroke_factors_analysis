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73" r:id="rId3"/>
    <p:sldId id="274" r:id="rId4"/>
    <p:sldId id="271" r:id="rId5"/>
    <p:sldId id="261" r:id="rId6"/>
    <p:sldId id="266" r:id="rId7"/>
    <p:sldId id="260" r:id="rId8"/>
    <p:sldId id="262" r:id="rId9"/>
    <p:sldId id="263" r:id="rId10"/>
    <p:sldId id="275" r:id="rId11"/>
    <p:sldId id="265" r:id="rId12"/>
    <p:sldId id="267" r:id="rId13"/>
    <p:sldId id="270" r:id="rId14"/>
    <p:sldId id="268" r:id="rId15"/>
    <p:sldId id="269" r:id="rId16"/>
    <p:sldId id="256" r:id="rId17"/>
    <p:sldId id="257" r:id="rId18"/>
    <p:sldId id="276" r:id="rId19"/>
    <p:sldId id="278" r:id="rId20"/>
    <p:sldId id="277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28" autoAdjust="0"/>
    <p:restoredTop sz="94660"/>
  </p:normalViewPr>
  <p:slideViewPr>
    <p:cSldViewPr snapToGrid="0">
      <p:cViewPr varScale="1">
        <p:scale>
          <a:sx n="97" d="100"/>
          <a:sy n="97" d="100"/>
        </p:scale>
        <p:origin x="69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CCDF1C-718C-94AC-3A27-2D2A681119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D598FAA-380F-304E-5046-2E349C3EAD6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E4701A-5B37-2E3F-CDFE-7D2D897C94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18BF0-D309-41FF-AA8C-FC2AA1806513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7EA0E1-DC03-56A0-7C53-7D1D38B21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C62E86-B622-9BE3-1F5E-775DCE85D6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38E0AA-2317-45F3-818D-B9C3ED7824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9748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4DE831-42DE-D5A0-EE5A-124E5063CB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C034C4-7F64-2899-1889-240D1474FA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68D1E8-17A6-50EE-05C6-2370BBDB36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18BF0-D309-41FF-AA8C-FC2AA1806513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447504-AD6B-2C3C-8376-AF67EC184D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B1C33E-E26C-4FCD-AA6E-3BBD7E7895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38E0AA-2317-45F3-818D-B9C3ED7824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88163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52302-8B14-264E-BDFD-379DDF327C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C19065-1492-9FF2-00DC-BC71C01B1F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C15107-7184-ABED-40BD-0C23889FF7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18BF0-D309-41FF-AA8C-FC2AA1806513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232CF1-6FD9-ABD0-8161-42F3F38B4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82E57D-D5C8-FA06-078B-87F7378DD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38E0AA-2317-45F3-818D-B9C3ED7824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45134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CD8D81-3BFD-9602-34C1-5DB439F52C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533672-F167-D0E5-B435-BC2CF3DD6E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651D0F-938F-86A2-846F-863F9152AD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78AB40-5035-2C42-947B-D7E0736F13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18BF0-D309-41FF-AA8C-FC2AA1806513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EF934F-82A6-CD41-2146-68D7211CAF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846D295-CE35-1495-1D63-B66E67BB2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38E0AA-2317-45F3-818D-B9C3ED7824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89023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414EED-9176-B156-C480-F6CF222174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8F3364-366E-533C-B24A-48DD7AB90F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A008853-9D88-A322-9F13-153EE67852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2793E3-A113-1215-1CF5-606FF6C6254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36B7144-A25E-832B-CDDB-FAA26397092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1C9EFC8-12C3-B521-C859-A4A81E4D8E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18BF0-D309-41FF-AA8C-FC2AA1806513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C09AA6-13F6-108D-7E74-E6CF8D1910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5B0EBED-BC82-0D78-CB82-FEC46DCE0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38E0AA-2317-45F3-818D-B9C3ED7824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58768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DFFF4-E746-9BD4-290C-B04FF02DF2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F26024-AC9A-311A-F4A1-BA36F57E3F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18BF0-D309-41FF-AA8C-FC2AA1806513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00AAC82-375A-659C-9086-406E18D91E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AA367FF-771B-1F4A-0E35-D33BEEB8A2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38E0AA-2317-45F3-818D-B9C3ED7824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80388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8F6561-20CB-CA62-E2F9-0660D93463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18BF0-D309-41FF-AA8C-FC2AA1806513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24BD4E5-1BDD-285C-D908-34E71D3DF6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175B67-6335-71E6-1ADB-FF328CA2D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38E0AA-2317-45F3-818D-B9C3ED7824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32185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4F42E3-35E2-7EFE-165C-7A93F3CB07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5A07B2-5002-DEED-489F-FD9E075E08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E601A1-8443-DFED-8700-9233226315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3610FF-36F0-7F1F-86F4-1A8AC53C62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18BF0-D309-41FF-AA8C-FC2AA1806513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1D477D-EBEC-8139-C42E-AD488FD02B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0F3470-E8FA-9920-FF29-D08C3CB3D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38E0AA-2317-45F3-818D-B9C3ED7824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74287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5DE163-4A36-3265-8AA6-35C02F6081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2D945DE-DB7E-71BE-EFF2-1E2F90C38E1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05DAA4-684C-9441-BB11-778CCB9126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91BB1E-258B-7FE5-B5C8-89AAAD00E6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18BF0-D309-41FF-AA8C-FC2AA1806513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20D976-AAA8-DBCA-B0A4-DD258D654D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740993-0E96-D12A-694A-0778B560D8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38E0AA-2317-45F3-818D-B9C3ED7824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25828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63DE49-7DF7-6063-6C71-5B0F9B7B2F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20619B4-EB80-298E-82CD-A02A601D60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D1C2DC-0EE7-42C0-9ACC-702D7D067A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18BF0-D309-41FF-AA8C-FC2AA1806513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ECCC8-A7C8-E8A8-41A5-0F12D6B1C5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A586E0-F511-1383-4EF9-E19571FB9D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38E0AA-2317-45F3-818D-B9C3ED7824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27843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282CD87-0B2B-444E-393F-21F3551D416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66851B-7CA1-1F54-4B83-CFF8E1DFEA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179A2C-3863-F54E-F475-C7938E6196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18BF0-D309-41FF-AA8C-FC2AA1806513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26251F-14CD-B74A-EC7F-94B48D33F3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9DAFB0-5ADA-535B-0050-632995D6B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38E0AA-2317-45F3-818D-B9C3ED7824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43392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E075477-E04C-F07F-86B8-977C7753DE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1A5CCC-6E5F-4E77-3245-330828A751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0385D5-D424-161E-5CA3-89652885040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4D18BF0-D309-41FF-AA8C-FC2AA1806513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075974-0F76-E645-DAB7-BF1217A0566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A383BC-75C6-4411-4471-5A9766C750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638E0AA-2317-45F3-818D-B9C3ED7824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04961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18549F-5209-B5B1-1B40-275AB9E153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Cohort 8 – DS3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69D4BBEE-D718-A844-DA71-F5642F915D3E}"/>
              </a:ext>
            </a:extLst>
          </p:cNvPr>
          <p:cNvSpPr txBox="1">
            <a:spLocks/>
          </p:cNvSpPr>
          <p:nvPr/>
        </p:nvSpPr>
        <p:spPr>
          <a:xfrm>
            <a:off x="731874" y="2427841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Stroke Factors Analysis</a:t>
            </a:r>
          </a:p>
        </p:txBody>
      </p:sp>
    </p:spTree>
    <p:extLst>
      <p:ext uri="{BB962C8B-B14F-4D97-AF65-F5344CB8AC3E}">
        <p14:creationId xmlns:p14="http://schemas.microsoft.com/office/powerpoint/2010/main" val="20479521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6CE8AB-CDD1-E1AE-429E-7D1B1EC286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Team Members listed by Alphabetical Order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7C135FB-E2F4-801A-66DE-F2A714516FA3}"/>
              </a:ext>
            </a:extLst>
          </p:cNvPr>
          <p:cNvSpPr txBox="1">
            <a:spLocks/>
          </p:cNvSpPr>
          <p:nvPr/>
        </p:nvSpPr>
        <p:spPr>
          <a:xfrm>
            <a:off x="769374" y="1690689"/>
            <a:ext cx="10515600" cy="393336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Adnan Takash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Aravind Vijayaragavan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Azadeh </a:t>
            </a:r>
            <a:r>
              <a:rPr lang="en-US" sz="3600" dirty="0" err="1"/>
              <a:t>Selahvarzi</a:t>
            </a:r>
            <a:endParaRPr lang="en-US" sz="36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Karen Huang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Naveen Kumar Nair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Yuli Zhang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12152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E43A91-B3C9-0454-AB88-45C9BEFB78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2110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A03920-A48B-F3FE-9B09-5B136B90E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18287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EC056-085F-0F32-063D-FB5BEB1009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Stroke Class Distribution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4B3F245-8DDD-53AB-8423-AACECF3B92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095802"/>
            <a:ext cx="5303531" cy="416052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322F41E-E829-BDF5-12FB-66D0F18D9A14}"/>
              </a:ext>
            </a:extLst>
          </p:cNvPr>
          <p:cNvSpPr txBox="1"/>
          <p:nvPr/>
        </p:nvSpPr>
        <p:spPr>
          <a:xfrm>
            <a:off x="6801648" y="3665044"/>
            <a:ext cx="272581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Percentage distribution: Class	      % </a:t>
            </a:r>
          </a:p>
          <a:p>
            <a:r>
              <a:rPr lang="en-US" dirty="0"/>
              <a:t>0	 95.13</a:t>
            </a:r>
          </a:p>
          <a:p>
            <a:r>
              <a:rPr lang="en-US" dirty="0"/>
              <a:t>1	 4.87</a:t>
            </a:r>
          </a:p>
        </p:txBody>
      </p:sp>
    </p:spTree>
    <p:extLst>
      <p:ext uri="{BB962C8B-B14F-4D97-AF65-F5344CB8AC3E}">
        <p14:creationId xmlns:p14="http://schemas.microsoft.com/office/powerpoint/2010/main" val="32809021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EBE8FA-3692-BB7A-90A2-26E0BD516E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Normalized Box Plot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76EB070-C1B4-0D9E-118D-8F3F0CD3CD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7792" y="1839434"/>
            <a:ext cx="8597669" cy="46534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75413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57C393-384C-21C7-9583-BD885425F0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Box Plot by Class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58E656D-BAC2-BCA8-74AB-AE92C2A52B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140" y="1853534"/>
            <a:ext cx="3437272" cy="254396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6D7F127-7CFF-D693-1011-280CD6380DB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62412" y="1811114"/>
            <a:ext cx="3854805" cy="280544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3689DEB-E838-7006-4D44-F5CD99529BE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17216" y="1825430"/>
            <a:ext cx="3653295" cy="2658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63123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65E4E6-FAAA-7E9D-7F63-7017953971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10893"/>
          </a:xfrm>
        </p:spPr>
        <p:txBody>
          <a:bodyPr/>
          <a:lstStyle/>
          <a:p>
            <a:r>
              <a:rPr lang="en-US" dirty="0"/>
              <a:t>Correlation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0460AC3-D760-3A84-D680-B75A6A3E99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43601" y="1584250"/>
            <a:ext cx="5748730" cy="499211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233239C-F206-BA47-1204-1CE55B3438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409" y="1714041"/>
            <a:ext cx="5923591" cy="51439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46116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5875B-A98D-9A28-D847-8F7CF17E2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32740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3FC363-1A5C-3D83-2FC1-8E685CED44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278819-1EC0-167A-15D1-1F2F71952C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Classification Modeling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22C56F1C-6A54-CD7E-1C18-A142EDF340DE}"/>
              </a:ext>
            </a:extLst>
          </p:cNvPr>
          <p:cNvSpPr txBox="1">
            <a:spLocks/>
          </p:cNvSpPr>
          <p:nvPr/>
        </p:nvSpPr>
        <p:spPr>
          <a:xfrm>
            <a:off x="908538" y="1690689"/>
            <a:ext cx="10515600" cy="42676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dirty="0"/>
              <a:t>The dataset is highly imbalanced (5% positive class)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US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dirty="0"/>
              <a:t>Tree-based models best for imbalanced data.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US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dirty="0"/>
              <a:t>Logistic Regression performed well when using balanced class weights.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US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dirty="0"/>
              <a:t>Therefore, three models were selected for the analysis: </a:t>
            </a:r>
            <a:r>
              <a:rPr lang="en-US" dirty="0" err="1"/>
              <a:t>XGBoost</a:t>
            </a:r>
            <a:r>
              <a:rPr lang="en-US" dirty="0"/>
              <a:t>, Random Forest, and Logistic Regression.</a:t>
            </a:r>
          </a:p>
        </p:txBody>
      </p:sp>
    </p:spTree>
    <p:extLst>
      <p:ext uri="{BB962C8B-B14F-4D97-AF65-F5344CB8AC3E}">
        <p14:creationId xmlns:p14="http://schemas.microsoft.com/office/powerpoint/2010/main" val="31002448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10B9E-90C0-9670-DAA4-76A271EAE1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Classification Threshold- Recall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483A5E-4DDA-A3E0-EDFB-D0FF1AA4EAB5}"/>
              </a:ext>
            </a:extLst>
          </p:cNvPr>
          <p:cNvSpPr txBox="1"/>
          <p:nvPr/>
        </p:nvSpPr>
        <p:spPr>
          <a:xfrm>
            <a:off x="2190306" y="5635256"/>
            <a:ext cx="54395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Recall: 0.8</a:t>
            </a:r>
          </a:p>
          <a:p>
            <a:r>
              <a:rPr lang="en-US" dirty="0"/>
              <a:t>Random Forest: Threshold: 0.24, PR-AUC: 0.22</a:t>
            </a:r>
          </a:p>
          <a:p>
            <a:r>
              <a:rPr lang="en-US" dirty="0"/>
              <a:t>XG Boost:              Threshold: 0.51, PR-AUC: 0.26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75444B8-5D86-E68B-3EBA-EF948AAAA4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106" y="1690688"/>
            <a:ext cx="5486411" cy="359359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675BDA9-A3D6-7D87-07BD-09F6863468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48517" y="1632200"/>
            <a:ext cx="5605283" cy="3593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21898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3460DC-725D-68D9-A0E1-CA81CA68E0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Confusion Matrix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C074982-224C-F718-2655-1ADD433920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2652" y="1444429"/>
            <a:ext cx="4636017" cy="416052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1EDA505-3CDA-18D8-27DB-EA9CCD764C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444429"/>
            <a:ext cx="4636017" cy="4160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36758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C9DFEB-0CA1-CB6C-4AFD-3BC259ED3B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Precision Recall-Area Under Curve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34FECA0-84D6-8895-9DCD-7AAC0FE961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039853"/>
            <a:ext cx="4096520" cy="416052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FE99F0D-6888-2FD5-992A-E287A978373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8075" y="2039853"/>
            <a:ext cx="4096520" cy="4160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94477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4E5768-5196-E7B0-5832-1C34EADE2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 10 Important Features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E8ED54E-6A0F-3791-032C-7B6A9F60D7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7102" y="1280155"/>
            <a:ext cx="9637795" cy="4297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83126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E84273-F5F3-6139-2570-575B7D9857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 10 Important Features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207C6A-CBC3-B195-4FA4-064B4BCEDF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7102" y="1280155"/>
            <a:ext cx="9637795" cy="4297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60457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613E3048-8AB0-6339-1911-14C3BD8B35D9}"/>
              </a:ext>
            </a:extLst>
          </p:cNvPr>
          <p:cNvSpPr txBox="1"/>
          <p:nvPr/>
        </p:nvSpPr>
        <p:spPr>
          <a:xfrm>
            <a:off x="1195752" y="5569545"/>
            <a:ext cx="943540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SHAP bar plot highlights the variables that most strongly influence the model’s predictions, ranking them by their overall importance.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SHAP bar plot shows which variables are most important overall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C5116E7-9696-4B20-3D8A-0031F5B899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6442" y="868362"/>
            <a:ext cx="7818944" cy="4634901"/>
          </a:xfrm>
          <a:prstGeom prst="rect">
            <a:avLst/>
          </a:prstGeom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425BEFA8-7ED3-BA25-9651-0FE3544DB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06475"/>
          </a:xfrm>
        </p:spPr>
        <p:txBody>
          <a:bodyPr>
            <a:normAutofit fontScale="90000"/>
          </a:bodyPr>
          <a:lstStyle/>
          <a:p>
            <a:r>
              <a:rPr lang="en-US" sz="4900" dirty="0"/>
              <a:t>Bar Plots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61558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2A1B674-38BE-4390-2336-69EDE0FC8E51}"/>
              </a:ext>
            </a:extLst>
          </p:cNvPr>
          <p:cNvSpPr txBox="1">
            <a:spLocks/>
          </p:cNvSpPr>
          <p:nvPr/>
        </p:nvSpPr>
        <p:spPr>
          <a:xfrm>
            <a:off x="838200" y="4917028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EE56EF2-EB15-BDB8-F898-3303C9BB23AB}"/>
              </a:ext>
            </a:extLst>
          </p:cNvPr>
          <p:cNvSpPr txBox="1">
            <a:spLocks/>
          </p:cNvSpPr>
          <p:nvPr/>
        </p:nvSpPr>
        <p:spPr>
          <a:xfrm>
            <a:off x="979462" y="540575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/>
              <a:t>Beeswarm</a:t>
            </a:r>
            <a:r>
              <a:rPr lang="en-US" sz="2400" dirty="0"/>
              <a:t> plot shows how each feature influences model predictions for all observations.</a:t>
            </a:r>
          </a:p>
          <a:p>
            <a:r>
              <a:rPr lang="en-US" sz="2400" dirty="0"/>
              <a:t>Highlighting both feature importance and whether high or low values increase or decrease the prediction.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1ED442E-E669-5E39-BCAF-17EC948309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0010" y="860490"/>
            <a:ext cx="8754504" cy="454526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0E1CF65-26FA-FE28-1A72-ABF074E7E0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SHAP </a:t>
            </a:r>
            <a:r>
              <a:rPr lang="en-US" dirty="0" err="1"/>
              <a:t>Beeswarm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76566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691AED-5067-823A-C7CB-1DA20B2CFA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SHAP </a:t>
            </a:r>
            <a:r>
              <a:rPr lang="en-US" sz="4000" dirty="0" err="1"/>
              <a:t>Beeswarm</a:t>
            </a:r>
            <a:r>
              <a:rPr lang="en-US" sz="4000" dirty="0"/>
              <a:t> – True Positive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A8D01C5-4D40-835B-212D-C7A937F379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2751" y="1804079"/>
            <a:ext cx="9030950" cy="4688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35787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63FAAA-A097-0BF1-BF9D-904760525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8FF90E-7972-2B4C-8068-BE58D8C654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SHAP </a:t>
            </a:r>
            <a:r>
              <a:rPr lang="en-US" sz="4000" dirty="0" err="1"/>
              <a:t>Beeswarm</a:t>
            </a:r>
            <a:r>
              <a:rPr lang="en-US" sz="4000" dirty="0"/>
              <a:t> – False Negative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71D4B84-3D01-1E10-2DB1-50CD84540A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0222" y="1557452"/>
            <a:ext cx="9052578" cy="4700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71263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476C82-C89C-4F07-8B34-E57E83C031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0271" y="1731809"/>
            <a:ext cx="10783529" cy="3233481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Thank You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33191059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196</TotalTime>
  <Words>225</Words>
  <Application>Microsoft Office PowerPoint</Application>
  <PresentationFormat>Widescreen</PresentationFormat>
  <Paragraphs>41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Aptos</vt:lpstr>
      <vt:lpstr>Aptos Display</vt:lpstr>
      <vt:lpstr>Arial</vt:lpstr>
      <vt:lpstr>Office Theme</vt:lpstr>
      <vt:lpstr>Cohort 8 – DS3</vt:lpstr>
      <vt:lpstr>Team Members listed by Alphabetical Order</vt:lpstr>
      <vt:lpstr>PowerPoint Presentation</vt:lpstr>
      <vt:lpstr>PowerPoint Presentation</vt:lpstr>
      <vt:lpstr>Stroke Class Distribution</vt:lpstr>
      <vt:lpstr>Normalized Box Plot</vt:lpstr>
      <vt:lpstr>Box Plot by Class</vt:lpstr>
      <vt:lpstr>Correlation</vt:lpstr>
      <vt:lpstr>PowerPoint Presentation</vt:lpstr>
      <vt:lpstr>Classification Modeling</vt:lpstr>
      <vt:lpstr>Classification Threshold- Recall</vt:lpstr>
      <vt:lpstr>Confusion Matrix</vt:lpstr>
      <vt:lpstr>Precision Recall-Area Under Curve</vt:lpstr>
      <vt:lpstr>Top 10 Important Features</vt:lpstr>
      <vt:lpstr>Top 10 Important Features</vt:lpstr>
      <vt:lpstr>Bar Plots </vt:lpstr>
      <vt:lpstr>SHAP Beeswarm</vt:lpstr>
      <vt:lpstr>SHAP Beeswarm – True Positive</vt:lpstr>
      <vt:lpstr>SHAP Beeswarm – False Negative</vt:lpstr>
      <vt:lpstr>Thank You   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 T</dc:creator>
  <cp:lastModifiedBy>A T</cp:lastModifiedBy>
  <cp:revision>23</cp:revision>
  <dcterms:created xsi:type="dcterms:W3CDTF">2026-03-05T16:05:05Z</dcterms:created>
  <dcterms:modified xsi:type="dcterms:W3CDTF">2026-03-05T21:58:49Z</dcterms:modified>
</cp:coreProperties>
</file>